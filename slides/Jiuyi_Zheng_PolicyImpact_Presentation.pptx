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783022c7a14670" /><Relationship Type="http://schemas.openxmlformats.org/officeDocument/2006/relationships/extended-properties" Target="/docProps/app.xml" Id="R896d4264736348e6" /><Relationship Type="http://schemas.openxmlformats.org/officeDocument/2006/relationships/officeDocument" Target="/ppt/presentation.xml" Id="R5da1922b9a1441d2" /></Relationships>
</file>

<file path=ppt/presentation.xml><?xml version="1.0" encoding="utf-8"?>
<p:presentation xmlns:p="http://schemas.openxmlformats.org/presentationml/2006/main">
  <p:sldMasterIdLst>
    <p:sldMasterId xmlns:r="http://schemas.openxmlformats.org/officeDocument/2006/relationships" id="2147483648" r:id="R96e6b11a60204653"/>
  </p:sldMasterIdLst>
  <p:notesMasterIdLst>
    <p:notesMasterId xmlns:r="http://schemas.openxmlformats.org/officeDocument/2006/relationships" r:id="R5abd9c2b15c241e0"/>
  </p:notesMasterIdLst>
  <p:sldIdLst>
    <p:sldId xmlns:r="http://schemas.openxmlformats.org/officeDocument/2006/relationships" id="256" r:id="R2bec9ddc95c34142"/>
    <p:sldId xmlns:r="http://schemas.openxmlformats.org/officeDocument/2006/relationships" id="257" r:id="R7622ad9038074e91"/>
    <p:sldId xmlns:r="http://schemas.openxmlformats.org/officeDocument/2006/relationships" id="258" r:id="R38cf075ff49a44ed"/>
    <p:sldId xmlns:r="http://schemas.openxmlformats.org/officeDocument/2006/relationships" id="259" r:id="R03cf5de971f14705"/>
    <p:sldId xmlns:r="http://schemas.openxmlformats.org/officeDocument/2006/relationships" id="260" r:id="Raa1a2144d95549bd"/>
    <p:sldId xmlns:r="http://schemas.openxmlformats.org/officeDocument/2006/relationships" id="261" r:id="R6c8b6b30aa2943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a24b838f75457c" /><Relationship Type="http://schemas.openxmlformats.org/officeDocument/2006/relationships/slideMaster" Target="/ppt/slideMasters/slideMaster1.xml" Id="R96e6b11a60204653" /><Relationship Type="http://schemas.openxmlformats.org/officeDocument/2006/relationships/notesMaster" Target="/ppt/notesMasters/notesMaster1.xml" Id="R5abd9c2b15c241e0" /><Relationship Type="http://schemas.openxmlformats.org/officeDocument/2006/relationships/presProps" Target="/ppt/presProps.xml" Id="R9e0ab200abb444c8" /><Relationship Type="http://schemas.openxmlformats.org/officeDocument/2006/relationships/tableStyles" Target="/ppt/tableStyles.xml" Id="Ra8badc78d4544af6" /><Relationship Type="http://schemas.openxmlformats.org/officeDocument/2006/relationships/slide" Target="/ppt/slides/slide1.xml" Id="R2bec9ddc95c34142" /><Relationship Type="http://schemas.openxmlformats.org/officeDocument/2006/relationships/slide" Target="/ppt/slides/slide2.xml" Id="R7622ad9038074e91" /><Relationship Type="http://schemas.openxmlformats.org/officeDocument/2006/relationships/slide" Target="/ppt/slides/slide3.xml" Id="R38cf075ff49a44ed" /><Relationship Type="http://schemas.openxmlformats.org/officeDocument/2006/relationships/slide" Target="/ppt/slides/slide4.xml" Id="R03cf5de971f14705" /><Relationship Type="http://schemas.openxmlformats.org/officeDocument/2006/relationships/slide" Target="/ppt/slides/slide5.xml" Id="Raa1a2144d95549bd" /><Relationship Type="http://schemas.openxmlformats.org/officeDocument/2006/relationships/slide" Target="/ppt/slides/slide6.xml" Id="R6c8b6b30aa2943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03d441a66544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8125477818434c" /><Relationship Type="http://schemas.openxmlformats.org/officeDocument/2006/relationships/notesMaster" Target="/ppt/notesMasters/notesMaster1.xml" Id="R4cb627e1cd1745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4485bcac08414a" /><Relationship Type="http://schemas.openxmlformats.org/officeDocument/2006/relationships/notesMaster" Target="/ppt/notesMasters/notesMaster1.xml" Id="Rd93c47b363c647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1b1f1ab9db45b5" /><Relationship Type="http://schemas.openxmlformats.org/officeDocument/2006/relationships/notesMaster" Target="/ppt/notesMasters/notesMaster1.xml" Id="Re72e524884934f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e7b0e41f984b0d" /><Relationship Type="http://schemas.openxmlformats.org/officeDocument/2006/relationships/notesMaster" Target="/ppt/notesMasters/notesMaster1.xml" Id="R8cb31a57bdcf43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d50fd3d5a44219" /><Relationship Type="http://schemas.openxmlformats.org/officeDocument/2006/relationships/notesMaster" Target="/ppt/notesMasters/notesMaster1.xml" Id="R0e99c939926449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7137b046b8428a" /><Relationship Type="http://schemas.openxmlformats.org/officeDocument/2006/relationships/notesMaster" Target="/ppt/notesMasters/notesMaster1.xml" Id="Rc10aacc1cf7f45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Jiuyi Zheng, a PhD student at the University of Missouri. PolicyImpact is a synthetic proof of concept for a narrow problem: turning a policy change into explicit, reviewable claim-impact logic. It does not use PHI, production claims, real payment decisions, or proprietary content. The demo focuses on workflow safety and traceability, not on a savings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opportunity is not autonomous claim adjudication. It is governed interpretation: connect a policy change to explicit evidence, propose typed logic, challenge it, and route it to an expert. Cotiviti's public responsible-AI principles emphasize human oversight, traceability, and accountability. CMS and ONC also show a broader move toward interoperable, transparent healthcare workflows. Those public trends motivate the workflow, but this prototype does not claim compliance or production readiness.</a:t>
            </a:r>
          </a:p>
          <a:p xmlns:a="http://schemas.openxmlformats.org/drawingml/2006/main">
            <a:r>
              <a:t/>
            </a:r>
          </a:p>
          <a:p xmlns:a="http://schemas.openxmlformats.org/drawingml/2006/main">
            <a:r>
              <a:t>[Sources]</a:t>
            </a:r>
          </a:p>
          <a:p xmlns:a="http://schemas.openxmlformats.org/drawingml/2006/main">
            <a:r>
              <a:t>https://www.cotiviti.com/about/responsible-ai-use</a:t>
            </a:r>
          </a:p>
          <a:p xmlns:a="http://schemas.openxmlformats.org/drawingml/2006/main">
            <a:r>
              <a:t>https://www.cms.gov/newsroom/fact-sheets/cms-interoperability-and-prior-authorization-final-rule-cms-0057-f</a:t>
            </a:r>
          </a:p>
          <a:p xmlns:a="http://schemas.openxmlformats.org/drawingml/2006/main">
            <a:r>
              <a:t>https://healthit.gov/regulations/hti-rules/hti-1-final-rule/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draws a hard line between interpretation and execution. The Analyst and Auditor can only emit validated typed records. The workflow permits exactly one revision, and even a final Auditor acceptance does not authorize execution. A human must separately approve each rule pair. Only then can the deterministic engine evaluate the same synthetic claims and expose the exact policy evidence used. This design follows the spirit of NIST's govern-map-measure-manage framing and uses provenance as a first-class traceability concept.</a:t>
            </a:r>
          </a:p>
          <a:p xmlns:a="http://schemas.openxmlformats.org/drawingml/2006/main">
            <a:r>
              <a:t/>
            </a:r>
          </a:p>
          <a:p xmlns:a="http://schemas.openxmlformats.org/drawingml/2006/main">
            <a:r>
              <a:t>[Sources]</a:t>
            </a:r>
          </a:p>
          <a:p xmlns:a="http://schemas.openxmlformats.org/drawingml/2006/main">
            <a:r>
              <a:t>https://doi.org/10.6028/NIST.AI.100-1</a:t>
            </a:r>
          </a:p>
          <a:p xmlns:a="http://schemas.openxmlformats.org/drawingml/2006/main">
            <a:r>
              <a:t>https://hl7.org/fhir/R4/provenance.html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is deliberately bounded. In round one, the Analyst identifies four policy changes and proposes typed rule pairs with exact supporting sections and caveats. The Auditor independently checks those fields. One modifier rule is challenged because the policy supports a narrower qualification. The Analyst gets exactly one revision. The final fixture contains three accepted rules and one abstention. That is the end of the model loop: the human decision is separate, explicit, and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is a controlled fixture replay. The sixteen synthetic claims intentionally cover six clearly affected cases, six clearly unaffected cases, two boundary cases, and two human-review cases. The deterministic engine produced sixteen of sixteen expected impact records, and all twenty evaluated outputs retained the expected evidence trace. The final agent review had three accepted rules, one abstention, and zero unsupported final assertions. These checks validate the workflow plumbing; they do not estimate live-model performance or business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recommendation is a small, result-blind pilot rather than deployment. Freeze approved policy pairs and scoring criteria before any model run. Have independent experts create and adjudicate the gold set. Run in a controlled environment and measure not only extraction accuracy, but also abstention, unsupported assertions, evidence traceability, and human overrides. Define stop and rollback gates up front. The current proof of concept remains synthetic and does not support clinical, payment, savings, or production claims.</a:t>
            </a:r>
          </a:p>
          <a:p xmlns:a="http://schemas.openxmlformats.org/drawingml/2006/main">
            <a:r>
              <a:t/>
            </a:r>
          </a:p>
          <a:p xmlns:a="http://schemas.openxmlformats.org/drawingml/2006/main">
            <a:r>
              <a:t>[Sources]</a:t>
            </a:r>
          </a:p>
          <a:p xmlns:a="http://schemas.openxmlformats.org/drawingml/2006/main">
            <a:r>
              <a:t>https://doi.org/10.6028/NIST.AI.100-1</a:t>
            </a:r>
          </a:p>
          <a:p xmlns:a="http://schemas.openxmlformats.org/drawingml/2006/main">
            <a:r>
              <a:t>https://doi.org/10.6028/NIST.AI.600-1</a:t>
            </a:r>
          </a:p>
          <a:p xmlns:a="http://schemas.openxmlformats.org/drawingml/2006/main">
            <a:r>
              <a:t>https://www.cotiviti.com/about/responsible-ai-use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5bf2886bae47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0f94dce0e54488" /><Relationship Type="http://schemas.openxmlformats.org/officeDocument/2006/relationships/slideLayout" Target="/ppt/slideLayouts/slideLayout1.xml" Id="R69a5b217cfbc49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a5b217cfbc49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4e5965afa94d62" /><Relationship Type="http://schemas.openxmlformats.org/officeDocument/2006/relationships/notesSlide" Target="/ppt/notesSlides/notesSlide1.xml" Id="R10e57aaacfc947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54091321084f7a" /><Relationship Type="http://schemas.openxmlformats.org/officeDocument/2006/relationships/notesSlide" Target="/ppt/notesSlides/notesSlide2.xml" Id="R7cfb895682d44d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b6661a8dde4d46" /><Relationship Type="http://schemas.openxmlformats.org/officeDocument/2006/relationships/notesSlide" Target="/ppt/notesSlides/notesSlide3.xml" Id="Re8a7aa8fbdca4f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6bd9a5cbc645d1" /><Relationship Type="http://schemas.openxmlformats.org/officeDocument/2006/relationships/notesSlide" Target="/ppt/notesSlides/notesSlide4.xml" Id="R44adad5169ba4a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7731e76139490d" /><Relationship Type="http://schemas.openxmlformats.org/officeDocument/2006/relationships/chart" Target="/ppt/slides/charts/chart1.xml" Id="R20b45de440864307" /><Relationship Type="http://schemas.openxmlformats.org/officeDocument/2006/relationships/notesSlide" Target="/ppt/notesSlides/notesSlide5.xml" Id="Rabc81d1e80ad48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be30bd79704b43" /><Relationship Type="http://schemas.openxmlformats.org/officeDocument/2006/relationships/notesSlide" Target="/ppt/notesSlides/notesSlide6.xml" Id="R83e5feefb37944ac" /></Relationships>
</file>

<file path=ppt/slides/charts/chart1.xml><?xml version="1.0" encoding="utf-8"?>
<c:chartSpace xmlns:c="http://schemas.openxmlformats.org/drawingml/2006/chart">
  <c:lang val="en-US"/>
  <c:chart>
    <c:plotArea>
      <c:barChart>
        <c:barDir val="bar"/>
        <c:grouping val="clustered"/>
        <c:varyColors val="0"/>
        <c:ser>
          <c:idx val="0"/>
          <c:order val="0"/>
          <c:tx>
            <c:v>Synthetic claims</c:v>
          </c:tx>
          <c:spPr>
            <a:solidFill xmlns:a="http://schemas.openxmlformats.org/drawingml/2006/main">
              <a:srgbClr val="176B87"/>
            </a:solidFill>
          </c:spPr>
          <c:cat>
            <c:strLit>
              <c:ptCount val="4"/>
              <c:pt idx="0">
                <c:v>Clearly affected</c:v>
              </c:pt>
              <c:pt idx="1">
                <c:v>Clearly unaffected</c:v>
              </c:pt>
              <c:pt idx="2">
                <c:v>Boundary</c:v>
              </c:pt>
              <c:pt idx="3">
                <c:v>Human review</c:v>
              </c:pt>
            </c:strLit>
          </c:cat>
          <c:val>
            <c:numLit>
              <c:formatCode>General</c:formatCode>
              <c:ptCount val="4"/>
              <c:pt idx="0">
                <c:v>6</c:v>
              </c:pt>
              <c:pt idx="1">
                <c:v>6</c:v>
              </c:pt>
              <c:pt idx="2">
                <c:v>2</c:v>
              </c:pt>
              <c:pt idx="3">
                <c:v>2</c:v>
              </c:pt>
            </c:numLit>
          </c:val>
        </c:ser>
        <c:dLbls>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E8EDF2"/>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00">
                <a:solidFill>
                  <a:srgbClr val="5B687A"/>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152033"/>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ccent-rail">
            <a:extLst xmlns:a="http://schemas.openxmlformats.org/drawingml/2006/main">
              <a:ext uri="{FF2B5EF4-FFF2-40B4-BE49-F238E27FC236}">
                <a16:creationId xmlns:a16="http://schemas.microsoft.com/office/drawing/2014/main" id="{393C7447-D2B8-4939-AEC2-6CF3FBB25C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6B87"/>
          </a:solidFill>
          <a:ln xmlns:a="http://schemas.openxmlformats.org/drawingml/2006/main" w="0">
            <a:solidFill>
              <a:srgbClr val="176B87"/>
            </a:solidFill>
            <a:prstDash val="solid"/>
          </a:ln>
        </p:spPr>
      </p:sp>
      <p:sp>
        <p:nvSpPr>
          <p:cNvPr id="2" name="supertitle">
            <a:extLst xmlns:a="http://schemas.openxmlformats.org/drawingml/2006/main">
              <a:ext uri="{FF2B5EF4-FFF2-40B4-BE49-F238E27FC236}">
                <a16:creationId xmlns:a16="http://schemas.microsoft.com/office/drawing/2014/main" id="{B85763F3-6CFF-49D8-8648-E7B8034F2117}"/>
              </a:ext>
            </a:extLst>
          </p:cNvPr>
          <p:cNvSpPr>
            <a:spLocks xmlns:a="http://schemas.openxmlformats.org/drawingml/2006/main" noGrp="1"/>
          </p:cNvSpPr>
          <p:nvPr/>
        </p:nvSpPr>
        <p:spPr>
          <a:xfrm xmlns:a="http://schemas.openxmlformats.org/drawingml/2006/main">
            <a:off x="495300" y="457200"/>
            <a:ext cx="75247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spcAft>
                <a:spcPts val="0"/>
              </a:spcAft>
              <a:buNone/>
              <a:defRPr sz="1425">
                <a:solidFill>
                  <a:srgbClr val="176B87"/>
                </a:solidFill>
                <a:latin typeface="Helvetica Neue"/>
                <a:ea typeface="Helvetica Neue"/>
                <a:cs typeface="Helvetica Neue"/>
              </a:defRPr>
            </a:pPr>
            <a:r>
              <a:rPr sz="1425" b="1">
                <a:solidFill>
                  <a:srgbClr val="176B87"/>
                </a:solidFill>
                <a:latin typeface="Helvetica Neue"/>
                <a:ea typeface="Helvetica Neue"/>
                <a:cs typeface="Helvetica Neue"/>
              </a:rPr>
              <a:t>SYNTHETIC PROOF OF CONCEPT · COTIVITI GENAI SCIENCE</a:t>
            </a:r>
          </a:p>
        </p:txBody>
      </p:sp>
      <p:sp>
        <p:nvSpPr>
          <p:cNvPr id="3" name="main-title">
            <a:extLst xmlns:a="http://schemas.openxmlformats.org/drawingml/2006/main">
              <a:ext uri="{FF2B5EF4-FFF2-40B4-BE49-F238E27FC236}">
                <a16:creationId xmlns:a16="http://schemas.microsoft.com/office/drawing/2014/main" id="{8A63230D-A436-43CD-A0FF-18D489A2472D}"/>
              </a:ext>
            </a:extLst>
          </p:cNvPr>
          <p:cNvSpPr>
            <a:spLocks xmlns:a="http://schemas.openxmlformats.org/drawingml/2006/main" noGrp="1"/>
          </p:cNvSpPr>
          <p:nvPr/>
        </p:nvSpPr>
        <p:spPr>
          <a:xfrm xmlns:a="http://schemas.openxmlformats.org/drawingml/2006/main">
            <a:off x="495300" y="1724025"/>
            <a:ext cx="10001250" cy="1066800"/>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nSpc>
                <a:spcPct val="92000"/>
              </a:lnSpc>
              <a:spcAft>
                <a:spcPts val="0"/>
              </a:spcAft>
              <a:buNone/>
              <a:defRPr sz="5850">
                <a:solidFill>
                  <a:srgbClr val="152033"/>
                </a:solidFill>
                <a:latin typeface="Helvetica Neue"/>
                <a:ea typeface="Helvetica Neue"/>
                <a:cs typeface="Helvetica Neue"/>
              </a:defRPr>
            </a:pPr>
            <a:r>
              <a:rPr sz="5850" b="1">
                <a:solidFill>
                  <a:srgbClr val="152033"/>
                </a:solidFill>
                <a:latin typeface="Helvetica Neue"/>
                <a:ea typeface="Helvetica Neue"/>
                <a:cs typeface="Helvetica Neue"/>
              </a:rPr>
              <a:t>PolicyImpact</a:t>
            </a:r>
          </a:p>
        </p:txBody>
      </p:sp>
      <p:sp>
        <p:nvSpPr>
          <p:cNvPr id="4" name="subtitle">
            <a:extLst xmlns:a="http://schemas.openxmlformats.org/drawingml/2006/main">
              <a:ext uri="{FF2B5EF4-FFF2-40B4-BE49-F238E27FC236}">
                <a16:creationId xmlns:a16="http://schemas.microsoft.com/office/drawing/2014/main" id="{5A2E5037-4C07-4202-BC7D-3ED67DC038A3}"/>
              </a:ext>
            </a:extLst>
          </p:cNvPr>
          <p:cNvSpPr>
            <a:spLocks xmlns:a="http://schemas.openxmlformats.org/drawingml/2006/main" noGrp="1"/>
          </p:cNvSpPr>
          <p:nvPr/>
        </p:nvSpPr>
        <p:spPr>
          <a:xfrm xmlns:a="http://schemas.openxmlformats.org/drawingml/2006/main">
            <a:off x="495300" y="2952750"/>
            <a:ext cx="9525000" cy="9334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0000"/>
              </a:lnSpc>
              <a:spcAft>
                <a:spcPts val="0"/>
              </a:spcAft>
              <a:buNone/>
              <a:defRPr sz="2850">
                <a:solidFill>
                  <a:srgbClr val="152033"/>
                </a:solidFill>
                <a:latin typeface="Helvetica Neue"/>
                <a:ea typeface="Helvetica Neue"/>
                <a:cs typeface="Helvetica Neue"/>
              </a:defRPr>
            </a:pPr>
            <a:r>
              <a:rPr sz="2850" b="0">
                <a:solidFill>
                  <a:srgbClr val="152033"/>
                </a:solidFill>
                <a:latin typeface="Helvetica Neue"/>
                <a:ea typeface="Helvetica Neue"/>
                <a:cs typeface="Helvetica Neue"/>
              </a:rPr>
              <a:t>Evidence-grounded policy change-to-claim review</a:t>
            </a:r>
          </a:p>
        </p:txBody>
      </p:sp>
      <p:sp>
        <p:nvSpPr>
          <p:cNvPr id="5" name="scope-panel">
            <a:extLst xmlns:a="http://schemas.openxmlformats.org/drawingml/2006/main">
              <a:ext uri="{FF2B5EF4-FFF2-40B4-BE49-F238E27FC236}">
                <a16:creationId xmlns:a16="http://schemas.microsoft.com/office/drawing/2014/main" id="{056A3190-C2AA-47BA-9DD3-8034D2EB0ACD}"/>
              </a:ext>
            </a:extLst>
          </p:cNvPr>
          <p:cNvSpPr>
            <a:spLocks xmlns:a="http://schemas.openxmlformats.org/drawingml/2006/main" noGrp="1"/>
          </p:cNvSpPr>
          <p:nvPr/>
        </p:nvSpPr>
        <p:spPr>
          <a:xfrm xmlns:a="http://schemas.openxmlformats.org/drawingml/2006/main">
            <a:off x="495300" y="4552950"/>
            <a:ext cx="8953500" cy="1000125"/>
          </a:xfrm>
          <a:prstGeom xmlns:a="http://schemas.openxmlformats.org/drawingml/2006/main" prst="roundRect">
            <a:avLst>
              <a:gd name="adj" fmla="val 7619"/>
            </a:avLst>
          </a:prstGeom>
          <a:solidFill xmlns:a="http://schemas.openxmlformats.org/drawingml/2006/main">
            <a:srgbClr val="EEF3F8"/>
          </a:solidFill>
          <a:ln xmlns:a="http://schemas.openxmlformats.org/drawingml/2006/main" w="0">
            <a:solidFill>
              <a:srgbClr val="EEF3F8"/>
            </a:solidFill>
            <a:prstDash val="solid"/>
          </a:ln>
        </p:spPr>
      </p:sp>
      <p:sp>
        <p:nvSpPr>
          <p:cNvPr id="6" name="author-scope">
            <a:extLst xmlns:a="http://schemas.openxmlformats.org/drawingml/2006/main">
              <a:ext uri="{FF2B5EF4-FFF2-40B4-BE49-F238E27FC236}">
                <a16:creationId xmlns:a16="http://schemas.microsoft.com/office/drawing/2014/main" id="{60F6C265-D865-4F5C-A96F-FA1A2EB37051}"/>
              </a:ext>
            </a:extLst>
          </p:cNvPr>
          <p:cNvSpPr>
            <a:spLocks xmlns:a="http://schemas.openxmlformats.org/drawingml/2006/main" noGrp="1"/>
          </p:cNvSpPr>
          <p:nvPr/>
        </p:nvSpPr>
        <p:spPr>
          <a:xfrm xmlns:a="http://schemas.openxmlformats.org/drawingml/2006/main">
            <a:off x="781050" y="4857750"/>
            <a:ext cx="8334375" cy="5524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1800">
                <a:solidFill>
                  <a:srgbClr val="5B687A"/>
                </a:solidFill>
                <a:latin typeface="Helvetica Neue"/>
                <a:ea typeface="Helvetica Neue"/>
                <a:cs typeface="Helvetica Neue"/>
              </a:defRPr>
            </a:pPr>
            <a:r>
              <a:rPr sz="1800" b="0">
                <a:solidFill>
                  <a:srgbClr val="5B687A"/>
                </a:solidFill>
                <a:latin typeface="Helvetica Neue"/>
                <a:ea typeface="Helvetica Neue"/>
                <a:cs typeface="Helvetica Neue"/>
              </a:rPr>
              <a:t>Jiuyi Zheng  ·  Synthetic policies and claims  ·  No PHI  ·  No production decisions</a:t>
            </a:r>
          </a:p>
        </p:txBody>
      </p:sp>
      <p:sp>
        <p:nvSpPr>
          <p:cNvPr id="7" name="slide-number-1">
            <a:extLst xmlns:a="http://schemas.openxmlformats.org/drawingml/2006/main">
              <a:ext uri="{FF2B5EF4-FFF2-40B4-BE49-F238E27FC236}">
                <a16:creationId xmlns:a16="http://schemas.microsoft.com/office/drawing/2014/main" id="{C00C1A94-0F79-4B12-BBDC-AFB207653F9B}"/>
              </a:ext>
            </a:extLst>
          </p:cNvPr>
          <p:cNvSpPr>
            <a:spLocks xmlns:a="http://schemas.openxmlformats.org/drawingml/2006/main" noGrp="1"/>
          </p:cNvSpPr>
          <p:nvPr/>
        </p:nvSpPr>
        <p:spPr>
          <a:xfrm xmlns:a="http://schemas.openxmlformats.org/drawingml/2006/main">
            <a:off x="11258550" y="6267450"/>
            <a:ext cx="533400" cy="247650"/>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975">
                <a:solidFill>
                  <a:srgbClr val="5B687A"/>
                </a:solidFill>
                <a:latin typeface="Helvetica Neue"/>
                <a:ea typeface="Helvetica Neue"/>
                <a:cs typeface="Helvetica Neue"/>
              </a:defRPr>
            </a:pPr>
            <a:r>
              <a:t>1</a:t>
            </a:r>
          </a:p>
        </p:txBody>
      </p:sp>
    </p:spTree>
    <p:extLst>
      <p:ext uri="{BB962C8B-B14F-4D97-AF65-F5344CB8AC3E}">
        <p14:creationId xmlns:p14="http://schemas.microsoft.com/office/powerpoint/2010/main" val="917700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7B04B15-752B-475D-BDD7-BF9BFC008F65}"/>
              </a:ext>
            </a:extLst>
          </p:cNvPr>
          <p:cNvSpPr>
            <a:spLocks xmlns:a="http://schemas.openxmlformats.org/drawingml/2006/main" noGrp="1"/>
          </p:cNvSpPr>
          <p:nvPr/>
        </p:nvSpPr>
        <p:spPr>
          <a:xfrm xmlns:a="http://schemas.openxmlformats.org/drawingml/2006/main">
            <a:off x="400050" y="342900"/>
            <a:ext cx="11391900" cy="100012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93000"/>
              </a:lnSpc>
              <a:spcAft>
                <a:spcPts val="0"/>
              </a:spcAft>
              <a:buNone/>
              <a:defRPr sz="2925">
                <a:solidFill>
                  <a:srgbClr val="152033"/>
                </a:solidFill>
                <a:latin typeface="Helvetica Neue"/>
                <a:ea typeface="Helvetica Neue"/>
                <a:cs typeface="Helvetica Neue"/>
              </a:defRPr>
            </a:pPr>
            <a:r>
              <a:rPr sz="2925" b="1">
                <a:solidFill>
                  <a:srgbClr val="152033"/>
                </a:solidFill>
                <a:latin typeface="Helvetica Neue"/>
                <a:ea typeface="Helvetica Neue"/>
                <a:cs typeface="Helvetica Neue"/>
              </a:rPr>
              <a:t>The opportunity is governed interpretation—not autonomous adjudication</a:t>
            </a:r>
          </a:p>
        </p:txBody>
      </p:sp>
      <p:sp>
        <p:nvSpPr>
          <p:cNvPr id="2" name="context">
            <a:extLst xmlns:a="http://schemas.openxmlformats.org/drawingml/2006/main">
              <a:ext uri="{FF2B5EF4-FFF2-40B4-BE49-F238E27FC236}">
                <a16:creationId xmlns:a16="http://schemas.microsoft.com/office/drawing/2014/main" id="{747DCCA5-6514-4792-8693-344709ECDC80}"/>
              </a:ext>
            </a:extLst>
          </p:cNvPr>
          <p:cNvSpPr>
            <a:spLocks xmlns:a="http://schemas.openxmlformats.org/drawingml/2006/main" noGrp="1"/>
          </p:cNvSpPr>
          <p:nvPr/>
        </p:nvSpPr>
        <p:spPr>
          <a:xfrm xmlns:a="http://schemas.openxmlformats.org/drawingml/2006/main">
            <a:off x="400050" y="1390650"/>
            <a:ext cx="11391900" cy="157162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480"/>
              </a:spcAft>
              <a:buNone/>
              <a:defRPr sz="1725">
                <a:solidFill>
                  <a:srgbClr val="5B687A"/>
                </a:solidFill>
                <a:latin typeface="Helvetica Neue"/>
                <a:ea typeface="Helvetica Neue"/>
                <a:cs typeface="Helvetica Neue"/>
              </a:defRPr>
            </a:pPr>
            <a:r>
              <a:rPr sz="1200" b="1">
                <a:solidFill>
                  <a:srgbClr val="176B87"/>
                </a:solidFill>
                <a:latin typeface="Helvetica Neue"/>
                <a:ea typeface="Helvetica Neue"/>
                <a:cs typeface="Helvetica Neue"/>
              </a:rPr>
              <a:t>WHY NOW</a:t>
            </a:r>
          </a:p>
          <a:p xmlns:a="http://schemas.openxmlformats.org/drawingml/2006/main">
            <a:pPr>
              <a:lnSpc>
                <a:spcPct val="115000"/>
              </a:lnSpc>
              <a:spcAft>
                <a:spcPts val="0"/>
              </a:spcAft>
              <a:buNone/>
              <a:defRPr sz="1725">
                <a:solidFill>
                  <a:srgbClr val="5B687A"/>
                </a:solidFill>
                <a:latin typeface="Helvetica Neue"/>
                <a:ea typeface="Helvetica Neue"/>
                <a:cs typeface="Helvetica Neue"/>
              </a:defRPr>
            </a:pPr>
            <a:r>
              <a:rPr sz="1725" b="0">
                <a:solidFill>
                  <a:srgbClr val="5B687A"/>
                </a:solidFill>
                <a:latin typeface="Helvetica Neue"/>
                <a:ea typeface="Helvetica Neue"/>
                <a:cs typeface="Helvetica Neue"/>
              </a:rPr>
              <a:t>Public healthcare guidance increasingly emphasizes transparent decision support, data provenance, and governed AI. The tractable product surface is the handoff from policy evidence to human-reviewed rules—not replacing domain experts.</a:t>
            </a:r>
          </a:p>
        </p:txBody>
      </p:sp>
      <p:sp>
        <p:nvSpPr>
          <p:cNvPr id="3" name="opportunity-card">
            <a:extLst xmlns:a="http://schemas.openxmlformats.org/drawingml/2006/main">
              <a:ext uri="{FF2B5EF4-FFF2-40B4-BE49-F238E27FC236}">
                <a16:creationId xmlns:a16="http://schemas.microsoft.com/office/drawing/2014/main" id="{16898B35-4A47-440A-A635-0DF6838B4FD9}"/>
              </a:ext>
            </a:extLst>
          </p:cNvPr>
          <p:cNvSpPr>
            <a:spLocks xmlns:a="http://schemas.openxmlformats.org/drawingml/2006/main" noGrp="1"/>
          </p:cNvSpPr>
          <p:nvPr/>
        </p:nvSpPr>
        <p:spPr>
          <a:xfrm xmlns:a="http://schemas.openxmlformats.org/drawingml/2006/main">
            <a:off x="400050" y="3295650"/>
            <a:ext cx="5524500" cy="2266950"/>
          </a:xfrm>
          <a:prstGeom xmlns:a="http://schemas.openxmlformats.org/drawingml/2006/main" prst="roundRect">
            <a:avLst>
              <a:gd name="adj" fmla="val 3361"/>
            </a:avLst>
          </a:prstGeom>
          <a:solidFill xmlns:a="http://schemas.openxmlformats.org/drawingml/2006/main">
            <a:srgbClr val="DFF3ED"/>
          </a:solidFill>
          <a:ln xmlns:a="http://schemas.openxmlformats.org/drawingml/2006/main" w="9525">
            <a:solidFill>
              <a:srgbClr val="B6DED3"/>
            </a:solidFill>
            <a:prstDash val="solid"/>
          </a:ln>
        </p:spPr>
      </p:sp>
      <p:sp>
        <p:nvSpPr>
          <p:cNvPr id="4" name="opportunity-text">
            <a:extLst xmlns:a="http://schemas.openxmlformats.org/drawingml/2006/main">
              <a:ext uri="{FF2B5EF4-FFF2-40B4-BE49-F238E27FC236}">
                <a16:creationId xmlns:a16="http://schemas.microsoft.com/office/drawing/2014/main" id="{A354B631-5414-4291-BF7B-7340B8C2A244}"/>
              </a:ext>
            </a:extLst>
          </p:cNvPr>
          <p:cNvSpPr>
            <a:spLocks xmlns:a="http://schemas.openxmlformats.org/drawingml/2006/main" noGrp="1"/>
          </p:cNvSpPr>
          <p:nvPr/>
        </p:nvSpPr>
        <p:spPr>
          <a:xfrm xmlns:a="http://schemas.openxmlformats.org/drawingml/2006/main">
            <a:off x="723900" y="3600450"/>
            <a:ext cx="4857750" cy="16383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0000"/>
              </a:lnSpc>
              <a:spcAft>
                <a:spcPts val="520"/>
              </a:spcAft>
              <a:buNone/>
              <a:defRPr sz="1650">
                <a:solidFill>
                  <a:srgbClr val="152033"/>
                </a:solidFill>
                <a:latin typeface="Helvetica Neue"/>
                <a:ea typeface="Helvetica Neue"/>
                <a:cs typeface="Helvetica Neue"/>
              </a:defRPr>
            </a:pPr>
            <a:r>
              <a:rPr sz="1800" b="1">
                <a:solidFill>
                  <a:srgbClr val="167D67"/>
                </a:solidFill>
                <a:latin typeface="Helvetica Neue"/>
                <a:ea typeface="Helvetica Neue"/>
                <a:cs typeface="Helvetica Neue"/>
              </a:rPr>
              <a:t>Opportunity</a:t>
            </a:r>
          </a:p>
          <a:p xmlns:a="http://schemas.openxmlformats.org/drawingml/2006/main">
            <a:pPr>
              <a:lnSpc>
                <a:spcPct val="112000"/>
              </a:lnSpc>
              <a:spcAft>
                <a:spcPts val="0"/>
              </a:spcAft>
              <a:buNone/>
              <a:defRPr sz="1650">
                <a:solidFill>
                  <a:srgbClr val="152033"/>
                </a:solidFill>
                <a:latin typeface="Helvetica Neue"/>
                <a:ea typeface="Helvetica Neue"/>
                <a:cs typeface="Helvetica Neue"/>
              </a:defRPr>
            </a:pPr>
            <a:r>
              <a:rPr sz="1650" b="0">
                <a:solidFill>
                  <a:srgbClr val="5B687A"/>
                </a:solidFill>
                <a:latin typeface="Helvetica Neue"/>
                <a:ea typeface="Helvetica Neue"/>
                <a:cs typeface="Helvetica Neue"/>
              </a:rPr>
              <a:t>Evidence-linked change triage
Typed rule proposals
Expert review queues</a:t>
            </a:r>
          </a:p>
        </p:txBody>
      </p:sp>
      <p:sp>
        <p:nvSpPr>
          <p:cNvPr id="5" name="threat-card">
            <a:extLst xmlns:a="http://schemas.openxmlformats.org/drawingml/2006/main">
              <a:ext uri="{FF2B5EF4-FFF2-40B4-BE49-F238E27FC236}">
                <a16:creationId xmlns:a16="http://schemas.microsoft.com/office/drawing/2014/main" id="{280D991A-C28D-4A5E-9359-3A2DCAF247E4}"/>
              </a:ext>
            </a:extLst>
          </p:cNvPr>
          <p:cNvSpPr>
            <a:spLocks xmlns:a="http://schemas.openxmlformats.org/drawingml/2006/main" noGrp="1"/>
          </p:cNvSpPr>
          <p:nvPr/>
        </p:nvSpPr>
        <p:spPr>
          <a:xfrm xmlns:a="http://schemas.openxmlformats.org/drawingml/2006/main">
            <a:off x="6267450" y="3295650"/>
            <a:ext cx="5524500" cy="2266950"/>
          </a:xfrm>
          <a:prstGeom xmlns:a="http://schemas.openxmlformats.org/drawingml/2006/main" prst="roundRect">
            <a:avLst>
              <a:gd name="adj" fmla="val 3361"/>
            </a:avLst>
          </a:prstGeom>
          <a:solidFill xmlns:a="http://schemas.openxmlformats.org/drawingml/2006/main">
            <a:srgbClr val="FBE4E4"/>
          </a:solidFill>
          <a:ln xmlns:a="http://schemas.openxmlformats.org/drawingml/2006/main" w="9525">
            <a:solidFill>
              <a:srgbClr val="EBC2C2"/>
            </a:solidFill>
            <a:prstDash val="solid"/>
          </a:ln>
        </p:spPr>
      </p:sp>
      <p:sp>
        <p:nvSpPr>
          <p:cNvPr id="6" name="threat-text">
            <a:extLst xmlns:a="http://schemas.openxmlformats.org/drawingml/2006/main">
              <a:ext uri="{FF2B5EF4-FFF2-40B4-BE49-F238E27FC236}">
                <a16:creationId xmlns:a16="http://schemas.microsoft.com/office/drawing/2014/main" id="{8EAAA077-2A17-4347-B7BD-C429AF82EAF7}"/>
              </a:ext>
            </a:extLst>
          </p:cNvPr>
          <p:cNvSpPr>
            <a:spLocks xmlns:a="http://schemas.openxmlformats.org/drawingml/2006/main" noGrp="1"/>
          </p:cNvSpPr>
          <p:nvPr/>
        </p:nvSpPr>
        <p:spPr>
          <a:xfrm xmlns:a="http://schemas.openxmlformats.org/drawingml/2006/main">
            <a:off x="6591300" y="3600450"/>
            <a:ext cx="4857750" cy="16383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0000"/>
              </a:lnSpc>
              <a:spcAft>
                <a:spcPts val="520"/>
              </a:spcAft>
              <a:buNone/>
              <a:defRPr sz="1650">
                <a:solidFill>
                  <a:srgbClr val="152033"/>
                </a:solidFill>
                <a:latin typeface="Helvetica Neue"/>
                <a:ea typeface="Helvetica Neue"/>
                <a:cs typeface="Helvetica Neue"/>
              </a:defRPr>
            </a:pPr>
            <a:r>
              <a:rPr sz="1800" b="1">
                <a:solidFill>
                  <a:srgbClr val="A13A3A"/>
                </a:solidFill>
                <a:latin typeface="Helvetica Neue"/>
                <a:ea typeface="Helvetica Neue"/>
                <a:cs typeface="Helvetica Neue"/>
              </a:rPr>
              <a:t>Threat</a:t>
            </a:r>
          </a:p>
          <a:p xmlns:a="http://schemas.openxmlformats.org/drawingml/2006/main">
            <a:pPr>
              <a:lnSpc>
                <a:spcPct val="112000"/>
              </a:lnSpc>
              <a:spcAft>
                <a:spcPts val="0"/>
              </a:spcAft>
              <a:buNone/>
              <a:defRPr sz="1650">
                <a:solidFill>
                  <a:srgbClr val="152033"/>
                </a:solidFill>
                <a:latin typeface="Helvetica Neue"/>
                <a:ea typeface="Helvetica Neue"/>
                <a:cs typeface="Helvetica Neue"/>
              </a:defRPr>
            </a:pPr>
            <a:r>
              <a:rPr sz="1650" b="0">
                <a:solidFill>
                  <a:srgbClr val="5B687A"/>
                </a:solidFill>
                <a:latin typeface="Helvetica Neue"/>
                <a:ea typeface="Helvetica Neue"/>
                <a:cs typeface="Helvetica Neue"/>
              </a:rPr>
              <a:t>Unsupported rule fields
Silent automation
Scope drift into adjudication</a:t>
            </a:r>
          </a:p>
        </p:txBody>
      </p:sp>
      <p:sp>
        <p:nvSpPr>
          <p:cNvPr id="7" name="guardrail">
            <a:extLst xmlns:a="http://schemas.openxmlformats.org/drawingml/2006/main">
              <a:ext uri="{FF2B5EF4-FFF2-40B4-BE49-F238E27FC236}">
                <a16:creationId xmlns:a16="http://schemas.microsoft.com/office/drawing/2014/main" id="{9447FA13-275A-4B3B-A904-6C461AB4EEAB}"/>
              </a:ext>
            </a:extLst>
          </p:cNvPr>
          <p:cNvSpPr>
            <a:spLocks xmlns:a="http://schemas.openxmlformats.org/drawingml/2006/main" noGrp="1"/>
          </p:cNvSpPr>
          <p:nvPr/>
        </p:nvSpPr>
        <p:spPr>
          <a:xfrm xmlns:a="http://schemas.openxmlformats.org/drawingml/2006/main">
            <a:off x="400050" y="5876925"/>
            <a:ext cx="10668000" cy="3619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1500">
                <a:solidFill>
                  <a:srgbClr val="176B87"/>
                </a:solidFill>
                <a:latin typeface="Helvetica Neue"/>
                <a:ea typeface="Helvetica Neue"/>
                <a:cs typeface="Helvetica Neue"/>
              </a:defRPr>
            </a:pPr>
            <a:r>
              <a:rPr sz="1500" b="1">
                <a:solidFill>
                  <a:srgbClr val="176B87"/>
                </a:solidFill>
                <a:latin typeface="Helvetica Neue"/>
                <a:ea typeface="Helvetica Neue"/>
                <a:cs typeface="Helvetica Neue"/>
              </a:rPr>
              <a:t>Guardrail: generative output stays non-executable until Auditor review and explicit human approval.</a:t>
            </a:r>
          </a:p>
        </p:txBody>
      </p:sp>
      <p:sp>
        <p:nvSpPr>
          <p:cNvPr id="8" name="slide-number-2">
            <a:extLst xmlns:a="http://schemas.openxmlformats.org/drawingml/2006/main">
              <a:ext uri="{FF2B5EF4-FFF2-40B4-BE49-F238E27FC236}">
                <a16:creationId xmlns:a16="http://schemas.microsoft.com/office/drawing/2014/main" id="{5CD94350-B79F-4DF0-AF39-477793ACE318}"/>
              </a:ext>
            </a:extLst>
          </p:cNvPr>
          <p:cNvSpPr>
            <a:spLocks xmlns:a="http://schemas.openxmlformats.org/drawingml/2006/main" noGrp="1"/>
          </p:cNvSpPr>
          <p:nvPr/>
        </p:nvSpPr>
        <p:spPr>
          <a:xfrm xmlns:a="http://schemas.openxmlformats.org/drawingml/2006/main">
            <a:off x="11258550" y="6267450"/>
            <a:ext cx="533400" cy="247650"/>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975">
                <a:solidFill>
                  <a:srgbClr val="5B687A"/>
                </a:solidFill>
                <a:latin typeface="Helvetica Neue"/>
                <a:ea typeface="Helvetica Neue"/>
                <a:cs typeface="Helvetica Neue"/>
              </a:defRPr>
            </a:pPr>
            <a:r>
              <a:t>2</a:t>
            </a:r>
          </a:p>
        </p:txBody>
      </p:sp>
    </p:spTree>
    <p:extLst>
      <p:ext uri="{BB962C8B-B14F-4D97-AF65-F5344CB8AC3E}">
        <p14:creationId xmlns:p14="http://schemas.microsoft.com/office/powerpoint/2010/main" val="9974320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60EB4FC2-8FE7-4F85-937D-D1C52E9BEBD8}"/>
              </a:ext>
            </a:extLst>
          </p:cNvPr>
          <p:cNvSpPr>
            <a:spLocks xmlns:a="http://schemas.openxmlformats.org/drawingml/2006/main" noGrp="1"/>
          </p:cNvSpPr>
          <p:nvPr/>
        </p:nvSpPr>
        <p:spPr>
          <a:xfrm xmlns:a="http://schemas.openxmlformats.org/drawingml/2006/main">
            <a:off x="400050" y="342900"/>
            <a:ext cx="11391900" cy="90487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93000"/>
              </a:lnSpc>
              <a:spcAft>
                <a:spcPts val="0"/>
              </a:spcAft>
              <a:buNone/>
              <a:defRPr sz="2925">
                <a:solidFill>
                  <a:srgbClr val="152033"/>
                </a:solidFill>
                <a:latin typeface="Helvetica Neue"/>
                <a:ea typeface="Helvetica Neue"/>
                <a:cs typeface="Helvetica Neue"/>
              </a:defRPr>
            </a:pPr>
            <a:r>
              <a:rPr sz="2925" b="1">
                <a:solidFill>
                  <a:srgbClr val="152033"/>
                </a:solidFill>
                <a:latin typeface="Helvetica Neue"/>
                <a:ea typeface="Helvetica Neue"/>
                <a:cs typeface="Helvetica Neue"/>
              </a:rPr>
              <a:t>Architecture keeps generative roles outside execution</a:t>
            </a:r>
          </a:p>
        </p:txBody>
      </p:sp>
      <p:cxnSp>
        <p:nvCxnSpPr>
          <p:cNvPr id="17" name="baseline"/>
          <p:cNvCxnSpPr/>
          <p:nvPr/>
        </p:nvCxnSpPr>
        <p:spPr>
          <a:xfrm xmlns:a="http://schemas.openxmlformats.org/drawingml/2006/main">
            <a:off x="342900" y="5391150"/>
            <a:ext cx="12096750" cy="286"/>
          </a:xfrm>
          <a:prstGeom xmlns:a="http://schemas.openxmlformats.org/drawingml/2006/main" prst="straightConnector1">
            <a:avLst/>
          </a:prstGeom>
          <a:ln xmlns:a="http://schemas.openxmlformats.org/drawingml/2006/main" w="9525">
            <a:solidFill>
              <a:srgbClr val="CBD5E1"/>
            </a:solidFill>
            <a:prstDash val="solid"/>
          </a:ln>
        </p:spPr>
      </p:cxnSp>
      <p:sp>
        <p:nvSpPr>
          <p:cNvPr id="3" name="card-1">
            <a:extLst xmlns:a="http://schemas.openxmlformats.org/drawingml/2006/main">
              <a:ext uri="{FF2B5EF4-FFF2-40B4-BE49-F238E27FC236}">
                <a16:creationId xmlns:a16="http://schemas.microsoft.com/office/drawing/2014/main" id="{BBADA515-21B5-4088-9FD0-728FD1C34C7B}"/>
              </a:ext>
            </a:extLst>
          </p:cNvPr>
          <p:cNvSpPr>
            <a:spLocks xmlns:a="http://schemas.openxmlformats.org/drawingml/2006/main" noGrp="1"/>
          </p:cNvSpPr>
          <p:nvPr/>
        </p:nvSpPr>
        <p:spPr>
          <a:xfrm xmlns:a="http://schemas.openxmlformats.org/drawingml/2006/main">
            <a:off x="400050" y="1438275"/>
            <a:ext cx="3562350" cy="3581400"/>
          </a:xfrm>
          <a:prstGeom xmlns:a="http://schemas.openxmlformats.org/drawingml/2006/main" prst="roundRect">
            <a:avLst>
              <a:gd name="adj" fmla="val 2139"/>
            </a:avLst>
          </a:prstGeom>
          <a:solidFill xmlns:a="http://schemas.openxmlformats.org/drawingml/2006/main">
            <a:srgbClr val="DCEEF4"/>
          </a:solidFill>
          <a:ln xmlns:a="http://schemas.openxmlformats.org/drawingml/2006/main" w="9525">
            <a:solidFill>
              <a:srgbClr val="B9DCE8"/>
            </a:solidFill>
            <a:prstDash val="solid"/>
          </a:ln>
        </p:spPr>
      </p:sp>
      <p:sp>
        <p:nvSpPr>
          <p:cNvPr id="4" name="card-text-1">
            <a:extLst xmlns:a="http://schemas.openxmlformats.org/drawingml/2006/main">
              <a:ext uri="{FF2B5EF4-FFF2-40B4-BE49-F238E27FC236}">
                <a16:creationId xmlns:a16="http://schemas.microsoft.com/office/drawing/2014/main" id="{3F3DF083-4344-47BD-8F22-8C456D84B1EA}"/>
              </a:ext>
            </a:extLst>
          </p:cNvPr>
          <p:cNvSpPr>
            <a:spLocks xmlns:a="http://schemas.openxmlformats.org/drawingml/2006/main" noGrp="1"/>
          </p:cNvSpPr>
          <p:nvPr/>
        </p:nvSpPr>
        <p:spPr>
          <a:xfrm xmlns:a="http://schemas.openxmlformats.org/drawingml/2006/main">
            <a:off x="714375" y="1847850"/>
            <a:ext cx="2933700" cy="24765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0000"/>
              </a:lnSpc>
              <a:spcAft>
                <a:spcPts val="520"/>
              </a:spcAft>
              <a:buNone/>
              <a:defRPr sz="1575">
                <a:solidFill>
                  <a:srgbClr val="152033"/>
                </a:solidFill>
                <a:latin typeface="Helvetica Neue"/>
                <a:ea typeface="Helvetica Neue"/>
                <a:cs typeface="Helvetica Neue"/>
              </a:defRPr>
            </a:pPr>
            <a:r>
              <a:rPr sz="1800" b="1">
                <a:solidFill>
                  <a:srgbClr val="176B87"/>
                </a:solidFill>
                <a:latin typeface="Helvetica Neue"/>
                <a:ea typeface="Helvetica Neue"/>
                <a:cs typeface="Helvetica Neue"/>
              </a:rPr>
              <a:t>Interpret</a:t>
            </a:r>
          </a:p>
          <a:p xmlns:a="http://schemas.openxmlformats.org/drawingml/2006/main">
            <a:pPr>
              <a:lnSpc>
                <a:spcPct val="112000"/>
              </a:lnSpc>
              <a:spcAft>
                <a:spcPts val="0"/>
              </a:spcAft>
              <a:buNone/>
              <a:defRPr sz="1575">
                <a:solidFill>
                  <a:srgbClr val="152033"/>
                </a:solidFill>
                <a:latin typeface="Helvetica Neue"/>
                <a:ea typeface="Helvetica Neue"/>
                <a:cs typeface="Helvetica Neue"/>
              </a:defRPr>
            </a:pPr>
            <a:r>
              <a:rPr sz="1575" b="0">
                <a:solidFill>
                  <a:srgbClr val="5B687A"/>
                </a:solidFill>
                <a:latin typeface="Helvetica Neue"/>
                <a:ea typeface="Helvetica Neue"/>
                <a:cs typeface="Helvetica Neue"/>
              </a:rPr>
              <a:t>Versioned policy pair
Controlled parser
Analyst proposal</a:t>
            </a:r>
          </a:p>
        </p:txBody>
      </p:sp>
      <p:sp>
        <p:nvSpPr>
          <p:cNvPr id="5" name="dot-1">
            <a:extLst xmlns:a="http://schemas.openxmlformats.org/drawingml/2006/main">
              <a:ext uri="{FF2B5EF4-FFF2-40B4-BE49-F238E27FC236}">
                <a16:creationId xmlns:a16="http://schemas.microsoft.com/office/drawing/2014/main" id="{96D29F21-CC50-4309-A21B-6602316C7E30}"/>
              </a:ext>
            </a:extLst>
          </p:cNvPr>
          <p:cNvSpPr>
            <a:spLocks xmlns:a="http://schemas.openxmlformats.org/drawingml/2006/main" noGrp="1"/>
          </p:cNvSpPr>
          <p:nvPr/>
        </p:nvSpPr>
        <p:spPr>
          <a:xfrm xmlns:a="http://schemas.openxmlformats.org/drawingml/2006/main">
            <a:off x="342900" y="5334000"/>
            <a:ext cx="114300" cy="114300"/>
          </a:xfrm>
          <a:prstGeom xmlns:a="http://schemas.openxmlformats.org/drawingml/2006/main" prst="ellipse">
            <a:avLst/>
          </a:prstGeom>
          <a:solidFill xmlns:a="http://schemas.openxmlformats.org/drawingml/2006/main">
            <a:srgbClr val="152033"/>
          </a:solidFill>
        </p:spPr>
      </p:sp>
      <p:sp>
        <p:nvSpPr>
          <p:cNvPr id="6" name="label-1">
            <a:extLst xmlns:a="http://schemas.openxmlformats.org/drawingml/2006/main">
              <a:ext uri="{FF2B5EF4-FFF2-40B4-BE49-F238E27FC236}">
                <a16:creationId xmlns:a16="http://schemas.microsoft.com/office/drawing/2014/main" id="{47022515-0B73-46F3-B5B3-59C3BC88863F}"/>
              </a:ext>
            </a:extLst>
          </p:cNvPr>
          <p:cNvSpPr>
            <a:spLocks xmlns:a="http://schemas.openxmlformats.org/drawingml/2006/main" noGrp="1"/>
          </p:cNvSpPr>
          <p:nvPr/>
        </p:nvSpPr>
        <p:spPr>
          <a:xfrm xmlns:a="http://schemas.openxmlformats.org/drawingml/2006/main">
            <a:off x="400050" y="5657850"/>
            <a:ext cx="2857500" cy="3238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1425">
                <a:solidFill>
                  <a:srgbClr val="5B687A"/>
                </a:solidFill>
                <a:latin typeface="Helvetica Neue"/>
                <a:ea typeface="Helvetica Neue"/>
                <a:cs typeface="Helvetica Neue"/>
              </a:defRPr>
            </a:pPr>
            <a:r>
              <a:rPr sz="1425" b="1">
                <a:solidFill>
                  <a:srgbClr val="5B687A"/>
                </a:solidFill>
                <a:latin typeface="Helvetica Neue"/>
                <a:ea typeface="Helvetica Neue"/>
                <a:cs typeface="Helvetica Neue"/>
              </a:rPr>
              <a:t>01  SOURCE</a:t>
            </a:r>
          </a:p>
        </p:txBody>
      </p:sp>
      <p:sp>
        <p:nvSpPr>
          <p:cNvPr id="7" name="card-2">
            <a:extLst xmlns:a="http://schemas.openxmlformats.org/drawingml/2006/main">
              <a:ext uri="{FF2B5EF4-FFF2-40B4-BE49-F238E27FC236}">
                <a16:creationId xmlns:a16="http://schemas.microsoft.com/office/drawing/2014/main" id="{382D7DDD-7297-4F69-8E2D-482CC9EEC53B}"/>
              </a:ext>
            </a:extLst>
          </p:cNvPr>
          <p:cNvSpPr>
            <a:spLocks xmlns:a="http://schemas.openxmlformats.org/drawingml/2006/main" noGrp="1"/>
          </p:cNvSpPr>
          <p:nvPr/>
        </p:nvSpPr>
        <p:spPr>
          <a:xfrm xmlns:a="http://schemas.openxmlformats.org/drawingml/2006/main">
            <a:off x="4314825" y="1438275"/>
            <a:ext cx="3562350" cy="3581400"/>
          </a:xfrm>
          <a:prstGeom xmlns:a="http://schemas.openxmlformats.org/drawingml/2006/main" prst="roundRect">
            <a:avLst>
              <a:gd name="adj" fmla="val 2139"/>
            </a:avLst>
          </a:prstGeom>
          <a:solidFill xmlns:a="http://schemas.openxmlformats.org/drawingml/2006/main">
            <a:srgbClr val="FFF0D6"/>
          </a:solidFill>
          <a:ln xmlns:a="http://schemas.openxmlformats.org/drawingml/2006/main" w="9525">
            <a:solidFill>
              <a:srgbClr val="F0D19C"/>
            </a:solidFill>
            <a:prstDash val="solid"/>
          </a:ln>
        </p:spPr>
      </p:sp>
      <p:sp>
        <p:nvSpPr>
          <p:cNvPr id="8" name="card-text-2">
            <a:extLst xmlns:a="http://schemas.openxmlformats.org/drawingml/2006/main">
              <a:ext uri="{FF2B5EF4-FFF2-40B4-BE49-F238E27FC236}">
                <a16:creationId xmlns:a16="http://schemas.microsoft.com/office/drawing/2014/main" id="{7A9E0766-7320-402A-B17A-3A300DF4BB78}"/>
              </a:ext>
            </a:extLst>
          </p:cNvPr>
          <p:cNvSpPr>
            <a:spLocks xmlns:a="http://schemas.openxmlformats.org/drawingml/2006/main" noGrp="1"/>
          </p:cNvSpPr>
          <p:nvPr/>
        </p:nvSpPr>
        <p:spPr>
          <a:xfrm xmlns:a="http://schemas.openxmlformats.org/drawingml/2006/main">
            <a:off x="4629150" y="1847850"/>
            <a:ext cx="2933700" cy="24765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0000"/>
              </a:lnSpc>
              <a:spcAft>
                <a:spcPts val="520"/>
              </a:spcAft>
              <a:buNone/>
              <a:defRPr sz="1575">
                <a:solidFill>
                  <a:srgbClr val="152033"/>
                </a:solidFill>
                <a:latin typeface="Helvetica Neue"/>
                <a:ea typeface="Helvetica Neue"/>
                <a:cs typeface="Helvetica Neue"/>
              </a:defRPr>
            </a:pPr>
            <a:r>
              <a:rPr sz="1800" b="1">
                <a:solidFill>
                  <a:srgbClr val="A65F00"/>
                </a:solidFill>
                <a:latin typeface="Helvetica Neue"/>
                <a:ea typeface="Helvetica Neue"/>
                <a:cs typeface="Helvetica Neue"/>
              </a:rPr>
              <a:t>Govern</a:t>
            </a:r>
          </a:p>
          <a:p xmlns:a="http://schemas.openxmlformats.org/drawingml/2006/main">
            <a:pPr>
              <a:lnSpc>
                <a:spcPct val="112000"/>
              </a:lnSpc>
              <a:spcAft>
                <a:spcPts val="0"/>
              </a:spcAft>
              <a:buNone/>
              <a:defRPr sz="1575">
                <a:solidFill>
                  <a:srgbClr val="152033"/>
                </a:solidFill>
                <a:latin typeface="Helvetica Neue"/>
                <a:ea typeface="Helvetica Neue"/>
                <a:cs typeface="Helvetica Neue"/>
              </a:defRPr>
            </a:pPr>
            <a:r>
              <a:rPr sz="1575" b="0">
                <a:solidFill>
                  <a:srgbClr val="5B687A"/>
                </a:solidFill>
                <a:latin typeface="Helvetica Neue"/>
                <a:ea typeface="Helvetica Neue"/>
                <a:cs typeface="Helvetica Neue"/>
              </a:rPr>
              <a:t>Independent Auditor
Exactly one revision
Explicit human gate</a:t>
            </a:r>
          </a:p>
        </p:txBody>
      </p:sp>
      <p:sp>
        <p:nvSpPr>
          <p:cNvPr id="9" name="dot-2">
            <a:extLst xmlns:a="http://schemas.openxmlformats.org/drawingml/2006/main">
              <a:ext uri="{FF2B5EF4-FFF2-40B4-BE49-F238E27FC236}">
                <a16:creationId xmlns:a16="http://schemas.microsoft.com/office/drawing/2014/main" id="{AB7097A1-0FA7-4A3B-881A-9FEC00076883}"/>
              </a:ext>
            </a:extLst>
          </p:cNvPr>
          <p:cNvSpPr>
            <a:spLocks xmlns:a="http://schemas.openxmlformats.org/drawingml/2006/main" noGrp="1"/>
          </p:cNvSpPr>
          <p:nvPr/>
        </p:nvSpPr>
        <p:spPr>
          <a:xfrm xmlns:a="http://schemas.openxmlformats.org/drawingml/2006/main">
            <a:off x="4257675" y="5334000"/>
            <a:ext cx="114300" cy="114300"/>
          </a:xfrm>
          <a:prstGeom xmlns:a="http://schemas.openxmlformats.org/drawingml/2006/main" prst="ellipse">
            <a:avLst/>
          </a:prstGeom>
          <a:solidFill xmlns:a="http://schemas.openxmlformats.org/drawingml/2006/main">
            <a:srgbClr val="152033"/>
          </a:solidFill>
        </p:spPr>
      </p:sp>
      <p:sp>
        <p:nvSpPr>
          <p:cNvPr id="10" name="label-2">
            <a:extLst xmlns:a="http://schemas.openxmlformats.org/drawingml/2006/main">
              <a:ext uri="{FF2B5EF4-FFF2-40B4-BE49-F238E27FC236}">
                <a16:creationId xmlns:a16="http://schemas.microsoft.com/office/drawing/2014/main" id="{E95B20F1-26DD-4EE7-9BBB-5205C7FBEF45}"/>
              </a:ext>
            </a:extLst>
          </p:cNvPr>
          <p:cNvSpPr>
            <a:spLocks xmlns:a="http://schemas.openxmlformats.org/drawingml/2006/main" noGrp="1"/>
          </p:cNvSpPr>
          <p:nvPr/>
        </p:nvSpPr>
        <p:spPr>
          <a:xfrm xmlns:a="http://schemas.openxmlformats.org/drawingml/2006/main">
            <a:off x="4314825" y="5657850"/>
            <a:ext cx="2857500" cy="3238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1425">
                <a:solidFill>
                  <a:srgbClr val="5B687A"/>
                </a:solidFill>
                <a:latin typeface="Helvetica Neue"/>
                <a:ea typeface="Helvetica Neue"/>
                <a:cs typeface="Helvetica Neue"/>
              </a:defRPr>
            </a:pPr>
            <a:r>
              <a:rPr sz="1425" b="1">
                <a:solidFill>
                  <a:srgbClr val="5B687A"/>
                </a:solidFill>
                <a:latin typeface="Helvetica Neue"/>
                <a:ea typeface="Helvetica Neue"/>
                <a:cs typeface="Helvetica Neue"/>
              </a:rPr>
              <a:t>02  GATE</a:t>
            </a:r>
          </a:p>
        </p:txBody>
      </p:sp>
      <p:sp>
        <p:nvSpPr>
          <p:cNvPr id="11" name="card-3">
            <a:extLst xmlns:a="http://schemas.openxmlformats.org/drawingml/2006/main">
              <a:ext uri="{FF2B5EF4-FFF2-40B4-BE49-F238E27FC236}">
                <a16:creationId xmlns:a16="http://schemas.microsoft.com/office/drawing/2014/main" id="{73181755-A09F-4919-B111-E995E6A36F11}"/>
              </a:ext>
            </a:extLst>
          </p:cNvPr>
          <p:cNvSpPr>
            <a:spLocks xmlns:a="http://schemas.openxmlformats.org/drawingml/2006/main" noGrp="1"/>
          </p:cNvSpPr>
          <p:nvPr/>
        </p:nvSpPr>
        <p:spPr>
          <a:xfrm xmlns:a="http://schemas.openxmlformats.org/drawingml/2006/main">
            <a:off x="8239125" y="1438275"/>
            <a:ext cx="3562350" cy="3581400"/>
          </a:xfrm>
          <a:prstGeom xmlns:a="http://schemas.openxmlformats.org/drawingml/2006/main" prst="roundRect">
            <a:avLst>
              <a:gd name="adj" fmla="val 2139"/>
            </a:avLst>
          </a:prstGeom>
          <a:solidFill xmlns:a="http://schemas.openxmlformats.org/drawingml/2006/main">
            <a:srgbClr val="DFF3ED"/>
          </a:solidFill>
          <a:ln xmlns:a="http://schemas.openxmlformats.org/drawingml/2006/main" w="9525">
            <a:solidFill>
              <a:srgbClr val="B6DED3"/>
            </a:solidFill>
            <a:prstDash val="solid"/>
          </a:ln>
        </p:spPr>
      </p:sp>
      <p:sp>
        <p:nvSpPr>
          <p:cNvPr id="12" name="card-text-3">
            <a:extLst xmlns:a="http://schemas.openxmlformats.org/drawingml/2006/main">
              <a:ext uri="{FF2B5EF4-FFF2-40B4-BE49-F238E27FC236}">
                <a16:creationId xmlns:a16="http://schemas.microsoft.com/office/drawing/2014/main" id="{4AB66617-1D4F-4F13-AEB2-05CFCF4B6DA1}"/>
              </a:ext>
            </a:extLst>
          </p:cNvPr>
          <p:cNvSpPr>
            <a:spLocks xmlns:a="http://schemas.openxmlformats.org/drawingml/2006/main" noGrp="1"/>
          </p:cNvSpPr>
          <p:nvPr/>
        </p:nvSpPr>
        <p:spPr>
          <a:xfrm xmlns:a="http://schemas.openxmlformats.org/drawingml/2006/main">
            <a:off x="8553450" y="1847850"/>
            <a:ext cx="2933700" cy="24765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0000"/>
              </a:lnSpc>
              <a:spcAft>
                <a:spcPts val="520"/>
              </a:spcAft>
              <a:buNone/>
              <a:defRPr sz="1575">
                <a:solidFill>
                  <a:srgbClr val="152033"/>
                </a:solidFill>
                <a:latin typeface="Helvetica Neue"/>
                <a:ea typeface="Helvetica Neue"/>
                <a:cs typeface="Helvetica Neue"/>
              </a:defRPr>
            </a:pPr>
            <a:r>
              <a:rPr sz="1800" b="1">
                <a:solidFill>
                  <a:srgbClr val="167D67"/>
                </a:solidFill>
                <a:latin typeface="Helvetica Neue"/>
                <a:ea typeface="Helvetica Neue"/>
                <a:cs typeface="Helvetica Neue"/>
              </a:rPr>
              <a:t>Execute</a:t>
            </a:r>
          </a:p>
          <a:p xmlns:a="http://schemas.openxmlformats.org/drawingml/2006/main">
            <a:pPr>
              <a:lnSpc>
                <a:spcPct val="112000"/>
              </a:lnSpc>
              <a:spcAft>
                <a:spcPts val="0"/>
              </a:spcAft>
              <a:buNone/>
              <a:defRPr sz="1575">
                <a:solidFill>
                  <a:srgbClr val="152033"/>
                </a:solidFill>
                <a:latin typeface="Helvetica Neue"/>
                <a:ea typeface="Helvetica Neue"/>
                <a:cs typeface="Helvetica Neue"/>
              </a:defRPr>
            </a:pPr>
            <a:r>
              <a:rPr sz="1575" b="0">
                <a:solidFill>
                  <a:srgbClr val="5B687A"/>
                </a:solidFill>
                <a:latin typeface="Helvetica Neue"/>
                <a:ea typeface="Helvetica Neue"/>
                <a:cs typeface="Helvetica Neue"/>
              </a:rPr>
              <a:t>Approved typed rules
Deterministic engine
Exact evidence trace</a:t>
            </a:r>
          </a:p>
        </p:txBody>
      </p:sp>
      <p:sp>
        <p:nvSpPr>
          <p:cNvPr id="13" name="dot-3">
            <a:extLst xmlns:a="http://schemas.openxmlformats.org/drawingml/2006/main">
              <a:ext uri="{FF2B5EF4-FFF2-40B4-BE49-F238E27FC236}">
                <a16:creationId xmlns:a16="http://schemas.microsoft.com/office/drawing/2014/main" id="{36A043F5-742D-441A-9C08-39410E7565FE}"/>
              </a:ext>
            </a:extLst>
          </p:cNvPr>
          <p:cNvSpPr>
            <a:spLocks xmlns:a="http://schemas.openxmlformats.org/drawingml/2006/main" noGrp="1"/>
          </p:cNvSpPr>
          <p:nvPr/>
        </p:nvSpPr>
        <p:spPr>
          <a:xfrm xmlns:a="http://schemas.openxmlformats.org/drawingml/2006/main">
            <a:off x="8181975" y="5334000"/>
            <a:ext cx="114300" cy="114300"/>
          </a:xfrm>
          <a:prstGeom xmlns:a="http://schemas.openxmlformats.org/drawingml/2006/main" prst="ellipse">
            <a:avLst/>
          </a:prstGeom>
          <a:solidFill xmlns:a="http://schemas.openxmlformats.org/drawingml/2006/main">
            <a:srgbClr val="152033"/>
          </a:solidFill>
        </p:spPr>
      </p:sp>
      <p:sp>
        <p:nvSpPr>
          <p:cNvPr id="14" name="label-3">
            <a:extLst xmlns:a="http://schemas.openxmlformats.org/drawingml/2006/main">
              <a:ext uri="{FF2B5EF4-FFF2-40B4-BE49-F238E27FC236}">
                <a16:creationId xmlns:a16="http://schemas.microsoft.com/office/drawing/2014/main" id="{D9375E99-84AF-41EE-831C-6C4A44974951}"/>
              </a:ext>
            </a:extLst>
          </p:cNvPr>
          <p:cNvSpPr>
            <a:spLocks xmlns:a="http://schemas.openxmlformats.org/drawingml/2006/main" noGrp="1"/>
          </p:cNvSpPr>
          <p:nvPr/>
        </p:nvSpPr>
        <p:spPr>
          <a:xfrm xmlns:a="http://schemas.openxmlformats.org/drawingml/2006/main">
            <a:off x="8239125" y="5657850"/>
            <a:ext cx="2857500" cy="3238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1425">
                <a:solidFill>
                  <a:srgbClr val="5B687A"/>
                </a:solidFill>
                <a:latin typeface="Helvetica Neue"/>
                <a:ea typeface="Helvetica Neue"/>
                <a:cs typeface="Helvetica Neue"/>
              </a:defRPr>
            </a:pPr>
            <a:r>
              <a:rPr sz="1425" b="1">
                <a:solidFill>
                  <a:srgbClr val="5B687A"/>
                </a:solidFill>
                <a:latin typeface="Helvetica Neue"/>
                <a:ea typeface="Helvetica Neue"/>
                <a:cs typeface="Helvetica Neue"/>
              </a:rPr>
              <a:t>03  REVIEW QUEUE</a:t>
            </a:r>
          </a:p>
        </p:txBody>
      </p:sp>
      <p:sp>
        <p:nvSpPr>
          <p:cNvPr id="15" name="slide-number-3">
            <a:extLst xmlns:a="http://schemas.openxmlformats.org/drawingml/2006/main">
              <a:ext uri="{FF2B5EF4-FFF2-40B4-BE49-F238E27FC236}">
                <a16:creationId xmlns:a16="http://schemas.microsoft.com/office/drawing/2014/main" id="{0AE41564-DB84-48CB-832F-35E55877B15E}"/>
              </a:ext>
            </a:extLst>
          </p:cNvPr>
          <p:cNvSpPr>
            <a:spLocks xmlns:a="http://schemas.openxmlformats.org/drawingml/2006/main" noGrp="1"/>
          </p:cNvSpPr>
          <p:nvPr/>
        </p:nvSpPr>
        <p:spPr>
          <a:xfrm xmlns:a="http://schemas.openxmlformats.org/drawingml/2006/main">
            <a:off x="11258550" y="6267450"/>
            <a:ext cx="533400" cy="247650"/>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975">
                <a:solidFill>
                  <a:srgbClr val="5B687A"/>
                </a:solidFill>
                <a:latin typeface="Helvetica Neue"/>
                <a:ea typeface="Helvetica Neue"/>
                <a:cs typeface="Helvetica Neue"/>
              </a:defRPr>
            </a:pPr>
            <a:r>
              <a:t>3</a:t>
            </a:r>
          </a:p>
        </p:txBody>
      </p:sp>
    </p:spTree>
    <p:extLst>
      <p:ext uri="{BB962C8B-B14F-4D97-AF65-F5344CB8AC3E}">
        <p14:creationId xmlns:p14="http://schemas.microsoft.com/office/powerpoint/2010/main" val="14387399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5AA0B482-819C-45CF-88A0-4F2D8C6BF869}"/>
              </a:ext>
            </a:extLst>
          </p:cNvPr>
          <p:cNvSpPr>
            <a:spLocks xmlns:a="http://schemas.openxmlformats.org/drawingml/2006/main" noGrp="1"/>
          </p:cNvSpPr>
          <p:nvPr/>
        </p:nvSpPr>
        <p:spPr>
          <a:xfrm xmlns:a="http://schemas.openxmlformats.org/drawingml/2006/main">
            <a:off x="400050" y="342900"/>
            <a:ext cx="11391900" cy="90487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93000"/>
              </a:lnSpc>
              <a:spcAft>
                <a:spcPts val="0"/>
              </a:spcAft>
              <a:buNone/>
              <a:defRPr sz="2925">
                <a:solidFill>
                  <a:srgbClr val="152033"/>
                </a:solidFill>
                <a:latin typeface="Helvetica Neue"/>
                <a:ea typeface="Helvetica Neue"/>
                <a:cs typeface="Helvetica Neue"/>
              </a:defRPr>
            </a:pPr>
            <a:r>
              <a:rPr sz="2925" b="1">
                <a:solidFill>
                  <a:srgbClr val="152033"/>
                </a:solidFill>
                <a:latin typeface="Helvetica Neue"/>
                <a:ea typeface="Helvetica Neue"/>
                <a:cs typeface="Helvetica Neue"/>
              </a:rPr>
              <a:t>Two roles, one revision, one explicit decision boundary</a:t>
            </a:r>
          </a:p>
        </p:txBody>
      </p:sp>
      <p:sp>
        <p:nvSpPr>
          <p:cNvPr id="2" name="subtitle">
            <a:extLst xmlns:a="http://schemas.openxmlformats.org/drawingml/2006/main">
              <a:ext uri="{FF2B5EF4-FFF2-40B4-BE49-F238E27FC236}">
                <a16:creationId xmlns:a16="http://schemas.microsoft.com/office/drawing/2014/main" id="{C9DAE672-B4F8-4178-9166-BBF1BD5BA208}"/>
              </a:ext>
            </a:extLst>
          </p:cNvPr>
          <p:cNvSpPr>
            <a:spLocks xmlns:a="http://schemas.openxmlformats.org/drawingml/2006/main" noGrp="1"/>
          </p:cNvSpPr>
          <p:nvPr/>
        </p:nvSpPr>
        <p:spPr>
          <a:xfrm xmlns:a="http://schemas.openxmlformats.org/drawingml/2006/main">
            <a:off x="400050" y="1428750"/>
            <a:ext cx="10287000" cy="42862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1800">
                <a:solidFill>
                  <a:srgbClr val="5B687A"/>
                </a:solidFill>
                <a:latin typeface="Helvetica Neue"/>
                <a:ea typeface="Helvetica Neue"/>
                <a:cs typeface="Helvetica Neue"/>
              </a:defRPr>
            </a:pPr>
            <a:r>
              <a:rPr sz="1800" b="0">
                <a:solidFill>
                  <a:srgbClr val="5B687A"/>
                </a:solidFill>
                <a:latin typeface="Helvetica Neue"/>
                <a:ea typeface="Helvetica Neue"/>
                <a:cs typeface="Helvetica Neue"/>
              </a:rPr>
              <a:t>Ambiguity remains visible and non-executable; abstention is an allowed outcome.</a:t>
            </a:r>
          </a:p>
        </p:txBody>
      </p:sp>
      <p:cxnSp>
        <p:nvCxnSpPr>
          <p:cNvPr id="16" name="timeline"/>
          <p:cNvCxnSpPr/>
          <p:nvPr/>
        </p:nvCxnSpPr>
        <p:spPr>
          <a:xfrm xmlns:a="http://schemas.openxmlformats.org/drawingml/2006/main">
            <a:off x="342900" y="3276600"/>
            <a:ext cx="12001500" cy="286"/>
          </a:xfrm>
          <a:prstGeom xmlns:a="http://schemas.openxmlformats.org/drawingml/2006/main" prst="straightConnector1">
            <a:avLst/>
          </a:prstGeom>
          <a:ln xmlns:a="http://schemas.openxmlformats.org/drawingml/2006/main" w="19050">
            <a:solidFill>
              <a:srgbClr val="CBD5E1"/>
            </a:solidFill>
            <a:prstDash val="solid"/>
          </a:ln>
        </p:spPr>
      </p:cxnSp>
      <p:sp>
        <p:nvSpPr>
          <p:cNvPr id="4" name="event-label-1">
            <a:extLst xmlns:a="http://schemas.openxmlformats.org/drawingml/2006/main">
              <a:ext uri="{FF2B5EF4-FFF2-40B4-BE49-F238E27FC236}">
                <a16:creationId xmlns:a16="http://schemas.microsoft.com/office/drawing/2014/main" id="{86AF4546-AFF1-4670-B677-6546DD99D682}"/>
              </a:ext>
            </a:extLst>
          </p:cNvPr>
          <p:cNvSpPr>
            <a:spLocks xmlns:a="http://schemas.openxmlformats.org/drawingml/2006/main" noGrp="1"/>
          </p:cNvSpPr>
          <p:nvPr/>
        </p:nvSpPr>
        <p:spPr>
          <a:xfrm xmlns:a="http://schemas.openxmlformats.org/drawingml/2006/main">
            <a:off x="400050" y="2705100"/>
            <a:ext cx="2000250" cy="304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1200">
                <a:solidFill>
                  <a:srgbClr val="176B87"/>
                </a:solidFill>
                <a:latin typeface="Helvetica Neue"/>
                <a:ea typeface="Helvetica Neue"/>
                <a:cs typeface="Helvetica Neue"/>
              </a:defRPr>
            </a:pPr>
            <a:r>
              <a:rPr sz="1200" b="1">
                <a:solidFill>
                  <a:srgbClr val="176B87"/>
                </a:solidFill>
                <a:latin typeface="Helvetica Neue"/>
                <a:ea typeface="Helvetica Neue"/>
                <a:cs typeface="Helvetica Neue"/>
              </a:rPr>
              <a:t>ROUND 1</a:t>
            </a:r>
          </a:p>
        </p:txBody>
      </p:sp>
      <p:sp>
        <p:nvSpPr>
          <p:cNvPr id="5" name="event-dot-1">
            <a:extLst xmlns:a="http://schemas.openxmlformats.org/drawingml/2006/main">
              <a:ext uri="{FF2B5EF4-FFF2-40B4-BE49-F238E27FC236}">
                <a16:creationId xmlns:a16="http://schemas.microsoft.com/office/drawing/2014/main" id="{AC3E9121-E9BF-416A-9FD1-F77BCF11CA74}"/>
              </a:ext>
            </a:extLst>
          </p:cNvPr>
          <p:cNvSpPr>
            <a:spLocks xmlns:a="http://schemas.openxmlformats.org/drawingml/2006/main" noGrp="1"/>
          </p:cNvSpPr>
          <p:nvPr/>
        </p:nvSpPr>
        <p:spPr>
          <a:xfrm xmlns:a="http://schemas.openxmlformats.org/drawingml/2006/main">
            <a:off x="342900" y="3219450"/>
            <a:ext cx="123825" cy="123825"/>
          </a:xfrm>
          <a:prstGeom xmlns:a="http://schemas.openxmlformats.org/drawingml/2006/main" prst="ellipse">
            <a:avLst/>
          </a:prstGeom>
          <a:solidFill xmlns:a="http://schemas.openxmlformats.org/drawingml/2006/main">
            <a:srgbClr val="176B87"/>
          </a:solidFill>
        </p:spPr>
      </p:sp>
      <p:sp>
        <p:nvSpPr>
          <p:cNvPr id="6" name="event-body-1">
            <a:extLst xmlns:a="http://schemas.openxmlformats.org/drawingml/2006/main">
              <a:ext uri="{FF2B5EF4-FFF2-40B4-BE49-F238E27FC236}">
                <a16:creationId xmlns:a16="http://schemas.microsoft.com/office/drawing/2014/main" id="{6B12C3AC-6DDA-4D89-A03B-8FCF1D6B5B5D}"/>
              </a:ext>
            </a:extLst>
          </p:cNvPr>
          <p:cNvSpPr>
            <a:spLocks xmlns:a="http://schemas.openxmlformats.org/drawingml/2006/main" noGrp="1"/>
          </p:cNvSpPr>
          <p:nvPr/>
        </p:nvSpPr>
        <p:spPr>
          <a:xfrm xmlns:a="http://schemas.openxmlformats.org/drawingml/2006/main">
            <a:off x="400050" y="3695700"/>
            <a:ext cx="3143250" cy="18097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500"/>
              </a:spcAft>
              <a:buNone/>
              <a:defRPr sz="1500">
                <a:solidFill>
                  <a:srgbClr val="152033"/>
                </a:solidFill>
                <a:latin typeface="Helvetica Neue"/>
                <a:ea typeface="Helvetica Neue"/>
                <a:cs typeface="Helvetica Neue"/>
              </a:defRPr>
            </a:pPr>
            <a:r>
              <a:rPr sz="1875" b="1">
                <a:solidFill>
                  <a:srgbClr val="152033"/>
                </a:solidFill>
                <a:latin typeface="Helvetica Neue"/>
                <a:ea typeface="Helvetica Neue"/>
                <a:cs typeface="Helvetica Neue"/>
              </a:rPr>
              <a:t>Analyst proposes</a:t>
            </a:r>
          </a:p>
          <a:p xmlns:a="http://schemas.openxmlformats.org/drawingml/2006/main">
            <a:pPr>
              <a:lnSpc>
                <a:spcPct val="114000"/>
              </a:lnSpc>
              <a:spcAft>
                <a:spcPts val="0"/>
              </a:spcAft>
              <a:buNone/>
              <a:defRPr sz="1500">
                <a:solidFill>
                  <a:srgbClr val="152033"/>
                </a:solidFill>
                <a:latin typeface="Helvetica Neue"/>
                <a:ea typeface="Helvetica Neue"/>
                <a:cs typeface="Helvetica Neue"/>
              </a:defRPr>
            </a:pPr>
            <a:r>
              <a:rPr sz="1500" b="0">
                <a:solidFill>
                  <a:srgbClr val="5B687A"/>
                </a:solidFill>
                <a:latin typeface="Helvetica Neue"/>
                <a:ea typeface="Helvetica Neue"/>
                <a:cs typeface="Helvetica Neue"/>
              </a:rPr>
              <a:t>4 changes
Typed candidate pairs
Exact sections + caveats</a:t>
            </a:r>
          </a:p>
        </p:txBody>
      </p:sp>
      <p:sp>
        <p:nvSpPr>
          <p:cNvPr id="7" name="event-label-2">
            <a:extLst xmlns:a="http://schemas.openxmlformats.org/drawingml/2006/main">
              <a:ext uri="{FF2B5EF4-FFF2-40B4-BE49-F238E27FC236}">
                <a16:creationId xmlns:a16="http://schemas.microsoft.com/office/drawing/2014/main" id="{4C2234DA-FDEA-4BB7-B1E7-51AC2C8101BF}"/>
              </a:ext>
            </a:extLst>
          </p:cNvPr>
          <p:cNvSpPr>
            <a:spLocks xmlns:a="http://schemas.openxmlformats.org/drawingml/2006/main" noGrp="1"/>
          </p:cNvSpPr>
          <p:nvPr/>
        </p:nvSpPr>
        <p:spPr>
          <a:xfrm xmlns:a="http://schemas.openxmlformats.org/drawingml/2006/main">
            <a:off x="4314825" y="2705100"/>
            <a:ext cx="2000250" cy="304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1200">
                <a:solidFill>
                  <a:srgbClr val="176B87"/>
                </a:solidFill>
                <a:latin typeface="Helvetica Neue"/>
                <a:ea typeface="Helvetica Neue"/>
                <a:cs typeface="Helvetica Neue"/>
              </a:defRPr>
            </a:pPr>
            <a:r>
              <a:rPr sz="1200" b="1">
                <a:solidFill>
                  <a:srgbClr val="176B87"/>
                </a:solidFill>
                <a:latin typeface="Helvetica Neue"/>
                <a:ea typeface="Helvetica Neue"/>
                <a:cs typeface="Helvetica Neue"/>
              </a:rPr>
              <a:t>CHALLENGE</a:t>
            </a:r>
          </a:p>
        </p:txBody>
      </p:sp>
      <p:sp>
        <p:nvSpPr>
          <p:cNvPr id="8" name="event-dot-2">
            <a:extLst xmlns:a="http://schemas.openxmlformats.org/drawingml/2006/main">
              <a:ext uri="{FF2B5EF4-FFF2-40B4-BE49-F238E27FC236}">
                <a16:creationId xmlns:a16="http://schemas.microsoft.com/office/drawing/2014/main" id="{4243A7E8-B10C-41BA-93E2-0DAFD8323421}"/>
              </a:ext>
            </a:extLst>
          </p:cNvPr>
          <p:cNvSpPr>
            <a:spLocks xmlns:a="http://schemas.openxmlformats.org/drawingml/2006/main" noGrp="1"/>
          </p:cNvSpPr>
          <p:nvPr/>
        </p:nvSpPr>
        <p:spPr>
          <a:xfrm xmlns:a="http://schemas.openxmlformats.org/drawingml/2006/main">
            <a:off x="4257675" y="3219450"/>
            <a:ext cx="123825" cy="123825"/>
          </a:xfrm>
          <a:prstGeom xmlns:a="http://schemas.openxmlformats.org/drawingml/2006/main" prst="ellipse">
            <a:avLst/>
          </a:prstGeom>
          <a:solidFill xmlns:a="http://schemas.openxmlformats.org/drawingml/2006/main">
            <a:srgbClr val="176B87"/>
          </a:solidFill>
        </p:spPr>
      </p:sp>
      <p:sp>
        <p:nvSpPr>
          <p:cNvPr id="9" name="event-body-2">
            <a:extLst xmlns:a="http://schemas.openxmlformats.org/drawingml/2006/main">
              <a:ext uri="{FF2B5EF4-FFF2-40B4-BE49-F238E27FC236}">
                <a16:creationId xmlns:a16="http://schemas.microsoft.com/office/drawing/2014/main" id="{01FA63CC-DCFE-40FA-ABDD-37F02F2A3AB6}"/>
              </a:ext>
            </a:extLst>
          </p:cNvPr>
          <p:cNvSpPr>
            <a:spLocks xmlns:a="http://schemas.openxmlformats.org/drawingml/2006/main" noGrp="1"/>
          </p:cNvSpPr>
          <p:nvPr/>
        </p:nvSpPr>
        <p:spPr>
          <a:xfrm xmlns:a="http://schemas.openxmlformats.org/drawingml/2006/main">
            <a:off x="4314825" y="3695700"/>
            <a:ext cx="3143250" cy="18097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500"/>
              </a:spcAft>
              <a:buNone/>
              <a:defRPr sz="1500">
                <a:solidFill>
                  <a:srgbClr val="152033"/>
                </a:solidFill>
                <a:latin typeface="Helvetica Neue"/>
                <a:ea typeface="Helvetica Neue"/>
                <a:cs typeface="Helvetica Neue"/>
              </a:defRPr>
            </a:pPr>
            <a:r>
              <a:rPr sz="1875" b="1">
                <a:solidFill>
                  <a:srgbClr val="152033"/>
                </a:solidFill>
                <a:latin typeface="Helvetica Neue"/>
                <a:ea typeface="Helvetica Neue"/>
                <a:cs typeface="Helvetica Neue"/>
              </a:rPr>
              <a:t>Auditor tests</a:t>
            </a:r>
          </a:p>
          <a:p xmlns:a="http://schemas.openxmlformats.org/drawingml/2006/main">
            <a:pPr>
              <a:lnSpc>
                <a:spcPct val="114000"/>
              </a:lnSpc>
              <a:spcAft>
                <a:spcPts val="0"/>
              </a:spcAft>
              <a:buNone/>
              <a:defRPr sz="1500">
                <a:solidFill>
                  <a:srgbClr val="152033"/>
                </a:solidFill>
                <a:latin typeface="Helvetica Neue"/>
                <a:ea typeface="Helvetica Neue"/>
                <a:cs typeface="Helvetica Neue"/>
              </a:defRPr>
            </a:pPr>
            <a:r>
              <a:rPr sz="1500" b="0">
                <a:solidFill>
                  <a:srgbClr val="5B687A"/>
                </a:solidFill>
                <a:latin typeface="Helvetica Neue"/>
                <a:ea typeface="Helvetica Neue"/>
                <a:cs typeface="Helvetica Neue"/>
              </a:rPr>
              <a:t>Accept / revise / abstain
Modifier logic challenged
No hidden rationale</a:t>
            </a:r>
          </a:p>
        </p:txBody>
      </p:sp>
      <p:sp>
        <p:nvSpPr>
          <p:cNvPr id="10" name="event-label-3">
            <a:extLst xmlns:a="http://schemas.openxmlformats.org/drawingml/2006/main">
              <a:ext uri="{FF2B5EF4-FFF2-40B4-BE49-F238E27FC236}">
                <a16:creationId xmlns:a16="http://schemas.microsoft.com/office/drawing/2014/main" id="{50A495FA-D20B-4909-A45C-F9444D6F7396}"/>
              </a:ext>
            </a:extLst>
          </p:cNvPr>
          <p:cNvSpPr>
            <a:spLocks xmlns:a="http://schemas.openxmlformats.org/drawingml/2006/main" noGrp="1"/>
          </p:cNvSpPr>
          <p:nvPr/>
        </p:nvSpPr>
        <p:spPr>
          <a:xfrm xmlns:a="http://schemas.openxmlformats.org/drawingml/2006/main">
            <a:off x="8181975" y="2705100"/>
            <a:ext cx="2000250" cy="304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1200">
                <a:solidFill>
                  <a:srgbClr val="176B87"/>
                </a:solidFill>
                <a:latin typeface="Helvetica Neue"/>
                <a:ea typeface="Helvetica Neue"/>
                <a:cs typeface="Helvetica Neue"/>
              </a:defRPr>
            </a:pPr>
            <a:r>
              <a:rPr sz="1200" b="1">
                <a:solidFill>
                  <a:srgbClr val="176B87"/>
                </a:solidFill>
                <a:latin typeface="Helvetica Neue"/>
                <a:ea typeface="Helvetica Neue"/>
                <a:cs typeface="Helvetica Neue"/>
              </a:rPr>
              <a:t>ROUND 2</a:t>
            </a:r>
          </a:p>
        </p:txBody>
      </p:sp>
      <p:sp>
        <p:nvSpPr>
          <p:cNvPr id="11" name="event-dot-3">
            <a:extLst xmlns:a="http://schemas.openxmlformats.org/drawingml/2006/main">
              <a:ext uri="{FF2B5EF4-FFF2-40B4-BE49-F238E27FC236}">
                <a16:creationId xmlns:a16="http://schemas.microsoft.com/office/drawing/2014/main" id="{007B96A1-7FEA-4EA9-A8F4-8C9259348575}"/>
              </a:ext>
            </a:extLst>
          </p:cNvPr>
          <p:cNvSpPr>
            <a:spLocks xmlns:a="http://schemas.openxmlformats.org/drawingml/2006/main" noGrp="1"/>
          </p:cNvSpPr>
          <p:nvPr/>
        </p:nvSpPr>
        <p:spPr>
          <a:xfrm xmlns:a="http://schemas.openxmlformats.org/drawingml/2006/main">
            <a:off x="8124825" y="3219450"/>
            <a:ext cx="123825" cy="123825"/>
          </a:xfrm>
          <a:prstGeom xmlns:a="http://schemas.openxmlformats.org/drawingml/2006/main" prst="ellipse">
            <a:avLst/>
          </a:prstGeom>
          <a:solidFill xmlns:a="http://schemas.openxmlformats.org/drawingml/2006/main">
            <a:srgbClr val="167D67"/>
          </a:solidFill>
        </p:spPr>
      </p:sp>
      <p:sp>
        <p:nvSpPr>
          <p:cNvPr id="12" name="event-body-3">
            <a:extLst xmlns:a="http://schemas.openxmlformats.org/drawingml/2006/main">
              <a:ext uri="{FF2B5EF4-FFF2-40B4-BE49-F238E27FC236}">
                <a16:creationId xmlns:a16="http://schemas.microsoft.com/office/drawing/2014/main" id="{ECCB0676-5F61-45B0-A0C3-6D74426B2495}"/>
              </a:ext>
            </a:extLst>
          </p:cNvPr>
          <p:cNvSpPr>
            <a:spLocks xmlns:a="http://schemas.openxmlformats.org/drawingml/2006/main" noGrp="1"/>
          </p:cNvSpPr>
          <p:nvPr/>
        </p:nvSpPr>
        <p:spPr>
          <a:xfrm xmlns:a="http://schemas.openxmlformats.org/drawingml/2006/main">
            <a:off x="8181975" y="3695700"/>
            <a:ext cx="3143250" cy="18097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500"/>
              </a:spcAft>
              <a:buNone/>
              <a:defRPr sz="1500">
                <a:solidFill>
                  <a:srgbClr val="152033"/>
                </a:solidFill>
                <a:latin typeface="Helvetica Neue"/>
                <a:ea typeface="Helvetica Neue"/>
                <a:cs typeface="Helvetica Neue"/>
              </a:defRPr>
            </a:pPr>
            <a:r>
              <a:rPr sz="1875" b="1">
                <a:solidFill>
                  <a:srgbClr val="152033"/>
                </a:solidFill>
                <a:latin typeface="Helvetica Neue"/>
                <a:ea typeface="Helvetica Neue"/>
                <a:cs typeface="Helvetica Neue"/>
              </a:rPr>
              <a:t>Revision closes</a:t>
            </a:r>
          </a:p>
          <a:p xmlns:a="http://schemas.openxmlformats.org/drawingml/2006/main">
            <a:pPr>
              <a:lnSpc>
                <a:spcPct val="114000"/>
              </a:lnSpc>
              <a:spcAft>
                <a:spcPts val="0"/>
              </a:spcAft>
              <a:buNone/>
              <a:defRPr sz="1500">
                <a:solidFill>
                  <a:srgbClr val="152033"/>
                </a:solidFill>
                <a:latin typeface="Helvetica Neue"/>
                <a:ea typeface="Helvetica Neue"/>
                <a:cs typeface="Helvetica Neue"/>
              </a:defRPr>
            </a:pPr>
            <a:r>
              <a:rPr sz="1500" b="0">
                <a:solidFill>
                  <a:srgbClr val="5B687A"/>
                </a:solidFill>
                <a:latin typeface="Helvetica Neue"/>
                <a:ea typeface="Helvetica Neue"/>
                <a:cs typeface="Helvetica Neue"/>
              </a:rPr>
              <a:t>3 accept · 1 abstain
Human approve / reject
No second AI loop</a:t>
            </a:r>
          </a:p>
        </p:txBody>
      </p:sp>
      <p:sp>
        <p:nvSpPr>
          <p:cNvPr id="13" name="slide-number-4">
            <a:extLst xmlns:a="http://schemas.openxmlformats.org/drawingml/2006/main">
              <a:ext uri="{FF2B5EF4-FFF2-40B4-BE49-F238E27FC236}">
                <a16:creationId xmlns:a16="http://schemas.microsoft.com/office/drawing/2014/main" id="{87616718-CE3F-4B08-A434-F8B964B5AA72}"/>
              </a:ext>
            </a:extLst>
          </p:cNvPr>
          <p:cNvSpPr>
            <a:spLocks xmlns:a="http://schemas.openxmlformats.org/drawingml/2006/main" noGrp="1"/>
          </p:cNvSpPr>
          <p:nvPr/>
        </p:nvSpPr>
        <p:spPr>
          <a:xfrm xmlns:a="http://schemas.openxmlformats.org/drawingml/2006/main">
            <a:off x="11258550" y="6267450"/>
            <a:ext cx="533400" cy="247650"/>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975">
                <a:solidFill>
                  <a:srgbClr val="5B687A"/>
                </a:solidFill>
                <a:latin typeface="Helvetica Neue"/>
                <a:ea typeface="Helvetica Neue"/>
                <a:cs typeface="Helvetica Neue"/>
              </a:defRPr>
            </a:pPr>
            <a:r>
              <a:t>4</a:t>
            </a:r>
          </a:p>
        </p:txBody>
      </p:sp>
    </p:spTree>
    <p:extLst>
      <p:ext uri="{BB962C8B-B14F-4D97-AF65-F5344CB8AC3E}">
        <p14:creationId xmlns:p14="http://schemas.microsoft.com/office/powerpoint/2010/main" val="8211127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F6216B3-C7FA-4754-A540-B24430A05024}"/>
              </a:ext>
            </a:extLst>
          </p:cNvPr>
          <p:cNvSpPr>
            <a:spLocks xmlns:a="http://schemas.openxmlformats.org/drawingml/2006/main" noGrp="1"/>
          </p:cNvSpPr>
          <p:nvPr/>
        </p:nvSpPr>
        <p:spPr>
          <a:xfrm xmlns:a="http://schemas.openxmlformats.org/drawingml/2006/main">
            <a:off x="400050" y="342900"/>
            <a:ext cx="11391900" cy="90487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93000"/>
              </a:lnSpc>
              <a:spcAft>
                <a:spcPts val="0"/>
              </a:spcAft>
              <a:buNone/>
              <a:defRPr sz="2925">
                <a:solidFill>
                  <a:srgbClr val="152033"/>
                </a:solidFill>
                <a:latin typeface="Helvetica Neue"/>
                <a:ea typeface="Helvetica Neue"/>
                <a:cs typeface="Helvetica Neue"/>
              </a:defRPr>
            </a:pPr>
            <a:r>
              <a:rPr sz="2925" b="1">
                <a:solidFill>
                  <a:srgbClr val="152033"/>
                </a:solidFill>
                <a:latin typeface="Helvetica Neue"/>
                <a:ea typeface="Helvetica Neue"/>
                <a:cs typeface="Helvetica Neue"/>
              </a:rPr>
              <a:t>Controlled fixture replay validates the workflow plumbing</a:t>
            </a:r>
          </a:p>
        </p:txBody>
      </p:sp>
      <p:sp>
        <p:nvSpPr>
          <p:cNvPr id="2" name="chart-frame">
            <a:extLst xmlns:a="http://schemas.openxmlformats.org/drawingml/2006/main">
              <a:ext uri="{FF2B5EF4-FFF2-40B4-BE49-F238E27FC236}">
                <a16:creationId xmlns:a16="http://schemas.microsoft.com/office/drawing/2014/main" id="{B01173FB-4B11-41BD-841A-00D7661F1698}"/>
              </a:ext>
            </a:extLst>
          </p:cNvPr>
          <p:cNvSpPr>
            <a:spLocks xmlns:a="http://schemas.openxmlformats.org/drawingml/2006/main" noGrp="1"/>
          </p:cNvSpPr>
          <p:nvPr/>
        </p:nvSpPr>
        <p:spPr>
          <a:xfrm xmlns:a="http://schemas.openxmlformats.org/drawingml/2006/main">
            <a:off x="400050" y="1295400"/>
            <a:ext cx="5543550" cy="4648200"/>
          </a:xfrm>
          <a:prstGeom xmlns:a="http://schemas.openxmlformats.org/drawingml/2006/main" prst="roundRect">
            <a:avLst>
              <a:gd name="adj" fmla="val 1639"/>
            </a:avLst>
          </a:prstGeom>
          <a:solidFill xmlns:a="http://schemas.openxmlformats.org/drawingml/2006/main">
            <a:srgbClr val="FFFFFF"/>
          </a:solidFill>
          <a:ln xmlns:a="http://schemas.openxmlformats.org/drawingml/2006/main" w="9525">
            <a:solidFill>
              <a:srgbClr val="CBD5E1"/>
            </a:solidFill>
            <a:prstDash val="solid"/>
          </a:ln>
        </p:spPr>
      </p:sp>
      <p:sp>
        <p:nvSpPr>
          <p:cNvPr id="3" name="scope-text">
            <a:extLst xmlns:a="http://schemas.openxmlformats.org/drawingml/2006/main">
              <a:ext uri="{FF2B5EF4-FFF2-40B4-BE49-F238E27FC236}">
                <a16:creationId xmlns:a16="http://schemas.microsoft.com/office/drawing/2014/main" id="{018AE91C-BA96-475B-9161-0DBEB3E6F0F3}"/>
              </a:ext>
            </a:extLst>
          </p:cNvPr>
          <p:cNvSpPr>
            <a:spLocks xmlns:a="http://schemas.openxmlformats.org/drawingml/2006/main" noGrp="1"/>
          </p:cNvSpPr>
          <p:nvPr/>
        </p:nvSpPr>
        <p:spPr>
          <a:xfrm xmlns:a="http://schemas.openxmlformats.org/drawingml/2006/main">
            <a:off x="6438900" y="1647825"/>
            <a:ext cx="5048250" cy="176212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500"/>
              </a:spcAft>
              <a:buNone/>
              <a:defRPr sz="1650">
                <a:solidFill>
                  <a:srgbClr val="5B687A"/>
                </a:solidFill>
                <a:latin typeface="Helvetica Neue"/>
                <a:ea typeface="Helvetica Neue"/>
                <a:cs typeface="Helvetica Neue"/>
              </a:defRPr>
            </a:pPr>
            <a:r>
              <a:rPr sz="1200" b="1">
                <a:solidFill>
                  <a:srgbClr val="176B87"/>
                </a:solidFill>
                <a:latin typeface="Helvetica Neue"/>
                <a:ea typeface="Helvetica Neue"/>
                <a:cs typeface="Helvetica Neue"/>
              </a:rPr>
              <a:t>OFFLINE FIXTURE REPLAY</a:t>
            </a:r>
          </a:p>
          <a:p xmlns:a="http://schemas.openxmlformats.org/drawingml/2006/main">
            <a:pPr>
              <a:lnSpc>
                <a:spcPct val="114000"/>
              </a:lnSpc>
              <a:spcAft>
                <a:spcPts val="0"/>
              </a:spcAft>
              <a:buNone/>
              <a:defRPr sz="1650">
                <a:solidFill>
                  <a:srgbClr val="5B687A"/>
                </a:solidFill>
                <a:latin typeface="Helvetica Neue"/>
                <a:ea typeface="Helvetica Neue"/>
                <a:cs typeface="Helvetica Neue"/>
              </a:defRPr>
            </a:pPr>
            <a:r>
              <a:rPr sz="1650" b="0">
                <a:solidFill>
                  <a:srgbClr val="5B687A"/>
                </a:solidFill>
                <a:latin typeface="Helvetica Neue"/>
                <a:ea typeface="Helvetica Neue"/>
                <a:cs typeface="Helvetica Neue"/>
              </a:rPr>
              <a:t>All reported values are deterministic checks against synthetic gold fixtures. They are not live-model accuracy, generalization, production savings, or clinical/payment performance.</a:t>
            </a:r>
          </a:p>
        </p:txBody>
      </p:sp>
      <p:sp>
        <p:nvSpPr>
          <p:cNvPr id="4" name="stat-one">
            <a:extLst xmlns:a="http://schemas.openxmlformats.org/drawingml/2006/main">
              <a:ext uri="{FF2B5EF4-FFF2-40B4-BE49-F238E27FC236}">
                <a16:creationId xmlns:a16="http://schemas.microsoft.com/office/drawing/2014/main" id="{FAA57376-6D75-41A8-ADC7-16E2FA4075ED}"/>
              </a:ext>
            </a:extLst>
          </p:cNvPr>
          <p:cNvSpPr>
            <a:spLocks xmlns:a="http://schemas.openxmlformats.org/drawingml/2006/main" noGrp="1"/>
          </p:cNvSpPr>
          <p:nvPr/>
        </p:nvSpPr>
        <p:spPr>
          <a:xfrm xmlns:a="http://schemas.openxmlformats.org/drawingml/2006/main">
            <a:off x="6438900" y="3905250"/>
            <a:ext cx="2190750" cy="1143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2100">
                <a:solidFill>
                  <a:srgbClr val="152033"/>
                </a:solidFill>
                <a:latin typeface="Helvetica Neue"/>
                <a:ea typeface="Helvetica Neue"/>
                <a:cs typeface="Helvetica Neue"/>
              </a:defRPr>
            </a:pPr>
            <a:r>
              <a:rPr sz="2700" b="1">
                <a:solidFill>
                  <a:srgbClr val="167D67"/>
                </a:solidFill>
                <a:latin typeface="Helvetica Neue"/>
                <a:ea typeface="Helvetica Neue"/>
                <a:cs typeface="Helvetica Neue"/>
              </a:rPr>
              <a:t>16 / 16</a:t>
            </a:r>
          </a:p>
          <a:p xmlns:a="http://schemas.openxmlformats.org/drawingml/2006/main">
            <a:pPr>
              <a:lnSpc>
                <a:spcPct val="108000"/>
              </a:lnSpc>
              <a:spcAft>
                <a:spcPts val="0"/>
              </a:spcAft>
              <a:buNone/>
              <a:defRPr sz="2100">
                <a:solidFill>
                  <a:srgbClr val="152033"/>
                </a:solidFill>
                <a:latin typeface="Helvetica Neue"/>
                <a:ea typeface="Helvetica Neue"/>
                <a:cs typeface="Helvetica Neue"/>
              </a:defRPr>
            </a:pPr>
            <a:r>
              <a:rPr sz="1350" b="0">
                <a:solidFill>
                  <a:srgbClr val="5B687A"/>
                </a:solidFill>
                <a:latin typeface="Helvetica Neue"/>
                <a:ea typeface="Helvetica Neue"/>
                <a:cs typeface="Helvetica Neue"/>
              </a:rPr>
              <a:t>claim-impact records match gold</a:t>
            </a:r>
          </a:p>
        </p:txBody>
      </p:sp>
      <p:sp>
        <p:nvSpPr>
          <p:cNvPr id="5" name="stat-two">
            <a:extLst xmlns:a="http://schemas.openxmlformats.org/drawingml/2006/main">
              <a:ext uri="{FF2B5EF4-FFF2-40B4-BE49-F238E27FC236}">
                <a16:creationId xmlns:a16="http://schemas.microsoft.com/office/drawing/2014/main" id="{C9AF92EF-8E0A-469C-97A7-22712EB23D44}"/>
              </a:ext>
            </a:extLst>
          </p:cNvPr>
          <p:cNvSpPr>
            <a:spLocks xmlns:a="http://schemas.openxmlformats.org/drawingml/2006/main" noGrp="1"/>
          </p:cNvSpPr>
          <p:nvPr/>
        </p:nvSpPr>
        <p:spPr>
          <a:xfrm xmlns:a="http://schemas.openxmlformats.org/drawingml/2006/main">
            <a:off x="9191625" y="3905250"/>
            <a:ext cx="2238375" cy="1143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2100">
                <a:solidFill>
                  <a:srgbClr val="152033"/>
                </a:solidFill>
                <a:latin typeface="Helvetica Neue"/>
                <a:ea typeface="Helvetica Neue"/>
                <a:cs typeface="Helvetica Neue"/>
              </a:defRPr>
            </a:pPr>
            <a:r>
              <a:rPr sz="2700" b="1">
                <a:solidFill>
                  <a:srgbClr val="176B87"/>
                </a:solidFill>
                <a:latin typeface="Helvetica Neue"/>
                <a:ea typeface="Helvetica Neue"/>
                <a:cs typeface="Helvetica Neue"/>
              </a:rPr>
              <a:t>20 / 20</a:t>
            </a:r>
          </a:p>
          <a:p xmlns:a="http://schemas.openxmlformats.org/drawingml/2006/main">
            <a:pPr>
              <a:lnSpc>
                <a:spcPct val="108000"/>
              </a:lnSpc>
              <a:spcAft>
                <a:spcPts val="0"/>
              </a:spcAft>
              <a:buNone/>
              <a:defRPr sz="2100">
                <a:solidFill>
                  <a:srgbClr val="152033"/>
                </a:solidFill>
                <a:latin typeface="Helvetica Neue"/>
                <a:ea typeface="Helvetica Neue"/>
                <a:cs typeface="Helvetica Neue"/>
              </a:defRPr>
            </a:pPr>
            <a:r>
              <a:rPr sz="1350" b="0">
                <a:solidFill>
                  <a:srgbClr val="5B687A"/>
                </a:solidFill>
                <a:latin typeface="Helvetica Neue"/>
                <a:ea typeface="Helvetica Neue"/>
                <a:cs typeface="Helvetica Neue"/>
              </a:rPr>
              <a:t>outputs retain exact traceability</a:t>
            </a:r>
          </a:p>
        </p:txBody>
      </p:sp>
      <p:sp>
        <p:nvSpPr>
          <p:cNvPr id="6" name="decision-summary">
            <a:extLst xmlns:a="http://schemas.openxmlformats.org/drawingml/2006/main">
              <a:ext uri="{FF2B5EF4-FFF2-40B4-BE49-F238E27FC236}">
                <a16:creationId xmlns:a16="http://schemas.microsoft.com/office/drawing/2014/main" id="{F16739FA-D339-43CC-B2AF-F38DC40493FC}"/>
              </a:ext>
            </a:extLst>
          </p:cNvPr>
          <p:cNvSpPr>
            <a:spLocks xmlns:a="http://schemas.openxmlformats.org/drawingml/2006/main" noGrp="1"/>
          </p:cNvSpPr>
          <p:nvPr/>
        </p:nvSpPr>
        <p:spPr>
          <a:xfrm xmlns:a="http://schemas.openxmlformats.org/drawingml/2006/main">
            <a:off x="6438900" y="5353050"/>
            <a:ext cx="5048250" cy="419100"/>
          </a:xfrm>
          <a:prstGeom xmlns:a="http://schemas.openxmlformats.org/drawingml/2006/main" prst="rect">
            <a:avLst/>
          </a:prstGeom>
        </p:spPr>
        <p:txBody>
          <a:bodyPr xmlns:a="http://schemas.openxmlformats.org/drawingml/2006/main" lIns="0" tIns="0" rIns="0" bIns="0">
            <a:normAutofit fontScale="90608"/>
          </a:bodyPr>
          <a:lstStyle xmlns:a="http://schemas.openxmlformats.org/drawingml/2006/main"/>
          <a:p xmlns:a="http://schemas.openxmlformats.org/drawingml/2006/main">
            <a:pPr>
              <a:lnSpc>
                <a:spcPct val="108000"/>
              </a:lnSpc>
              <a:spcAft>
                <a:spcPts val="0"/>
              </a:spcAft>
              <a:buNone/>
              <a:defRPr sz="1425">
                <a:solidFill>
                  <a:srgbClr val="152033"/>
                </a:solidFill>
                <a:latin typeface="Helvetica Neue"/>
                <a:ea typeface="Helvetica Neue"/>
                <a:cs typeface="Helvetica Neue"/>
              </a:defRPr>
            </a:pPr>
            <a:r>
              <a:rPr sz="1425" b="1">
                <a:solidFill>
                  <a:srgbClr val="152033"/>
                </a:solidFill>
                <a:latin typeface="Helvetica Neue"/>
                <a:ea typeface="Helvetica Neue"/>
                <a:cs typeface="Helvetica Neue"/>
              </a:rPr>
              <a:t>Final review: 3 accepted · 1 abstained · 0 unsupported assertions</a:t>
            </a:r>
          </a:p>
        </p:txBody>
      </p:sp>
      <p:graphicFrame>
        <p:nvGraphicFramePr>
          <p:cNvPr id="15" name="Chart"/>
          <p:cNvGraphicFramePr/>
          <p:nvPr/>
        </p:nvGraphicFramePr>
        <p:xfrm>
          <a:off xmlns:a="http://schemas.openxmlformats.org/drawingml/2006/main" x="781050" y="1657350"/>
          <a:ext xmlns:a="http://schemas.openxmlformats.org/drawingml/2006/main" cx="4762500" cy="3829050"/>
        </p:xfrm>
        <a:graphic xmlns:a="http://schemas.openxmlformats.org/drawingml/2006/main">
          <a:graphicData uri="http://schemas.openxmlformats.org/drawingml/2006/chart">
            <c:chart xmlns:r="http://schemas.openxmlformats.org/officeDocument/2006/relationships" xmlns:c="http://schemas.openxmlformats.org/drawingml/2006/chart" r:id="R20b45de440864307"/>
          </a:graphicData>
        </a:graphic>
      </p:graphicFrame>
      <p:sp>
        <p:nvSpPr>
          <p:cNvPr id="8" name="slide-number-5">
            <a:extLst xmlns:a="http://schemas.openxmlformats.org/drawingml/2006/main">
              <a:ext uri="{FF2B5EF4-FFF2-40B4-BE49-F238E27FC236}">
                <a16:creationId xmlns:a16="http://schemas.microsoft.com/office/drawing/2014/main" id="{15149E10-6928-4BD1-8839-6C1BB06A7244}"/>
              </a:ext>
            </a:extLst>
          </p:cNvPr>
          <p:cNvSpPr>
            <a:spLocks xmlns:a="http://schemas.openxmlformats.org/drawingml/2006/main" noGrp="1"/>
          </p:cNvSpPr>
          <p:nvPr/>
        </p:nvSpPr>
        <p:spPr>
          <a:xfrm xmlns:a="http://schemas.openxmlformats.org/drawingml/2006/main">
            <a:off x="11258550" y="6267450"/>
            <a:ext cx="533400" cy="247650"/>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975">
                <a:solidFill>
                  <a:srgbClr val="5B687A"/>
                </a:solidFill>
                <a:latin typeface="Helvetica Neue"/>
                <a:ea typeface="Helvetica Neue"/>
                <a:cs typeface="Helvetica Neue"/>
              </a:defRPr>
            </a:pPr>
            <a:r>
              <a:t>5</a:t>
            </a:r>
          </a:p>
        </p:txBody>
      </p:sp>
    </p:spTree>
    <p:extLst>
      <p:ext uri="{BB962C8B-B14F-4D97-AF65-F5344CB8AC3E}">
        <p14:creationId xmlns:p14="http://schemas.microsoft.com/office/powerpoint/2010/main" val="1830752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ADCA46A8-F0BB-406D-B40A-E9A742325256}"/>
              </a:ext>
            </a:extLst>
          </p:cNvPr>
          <p:cNvSpPr>
            <a:spLocks xmlns:a="http://schemas.openxmlformats.org/drawingml/2006/main" noGrp="1"/>
          </p:cNvSpPr>
          <p:nvPr/>
        </p:nvSpPr>
        <p:spPr>
          <a:xfrm xmlns:a="http://schemas.openxmlformats.org/drawingml/2006/main">
            <a:off x="400050" y="342900"/>
            <a:ext cx="11391900" cy="90487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93000"/>
              </a:lnSpc>
              <a:spcAft>
                <a:spcPts val="0"/>
              </a:spcAft>
              <a:buNone/>
              <a:defRPr sz="2925">
                <a:solidFill>
                  <a:srgbClr val="152033"/>
                </a:solidFill>
                <a:latin typeface="Helvetica Neue"/>
                <a:ea typeface="Helvetica Neue"/>
                <a:cs typeface="Helvetica Neue"/>
              </a:defRPr>
            </a:pPr>
            <a:r>
              <a:rPr sz="2925" b="1">
                <a:solidFill>
                  <a:srgbClr val="152033"/>
                </a:solidFill>
                <a:latin typeface="Helvetica Neue"/>
                <a:ea typeface="Helvetica Neue"/>
                <a:cs typeface="Helvetica Neue"/>
              </a:rPr>
              <a:t>Recommendation: run a result-blind, multi-policy pilot</a:t>
            </a:r>
          </a:p>
        </p:txBody>
      </p:sp>
      <p:sp>
        <p:nvSpPr>
          <p:cNvPr id="2" name="recommendation">
            <a:extLst xmlns:a="http://schemas.openxmlformats.org/drawingml/2006/main">
              <a:ext uri="{FF2B5EF4-FFF2-40B4-BE49-F238E27FC236}">
                <a16:creationId xmlns:a16="http://schemas.microsoft.com/office/drawing/2014/main" id="{19DDC605-0E96-4E44-B294-CD9B47ED295B}"/>
              </a:ext>
            </a:extLst>
          </p:cNvPr>
          <p:cNvSpPr>
            <a:spLocks xmlns:a="http://schemas.openxmlformats.org/drawingml/2006/main" noGrp="1"/>
          </p:cNvSpPr>
          <p:nvPr/>
        </p:nvSpPr>
        <p:spPr>
          <a:xfrm xmlns:a="http://schemas.openxmlformats.org/drawingml/2006/main">
            <a:off x="400050" y="1638300"/>
            <a:ext cx="5619750" cy="119062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0"/>
              </a:spcAft>
              <a:buNone/>
              <a:defRPr sz="2175">
                <a:solidFill>
                  <a:srgbClr val="152033"/>
                </a:solidFill>
                <a:latin typeface="Helvetica Neue"/>
                <a:ea typeface="Helvetica Neue"/>
                <a:cs typeface="Helvetica Neue"/>
              </a:defRPr>
            </a:pPr>
            <a:r>
              <a:rPr sz="2175" b="0">
                <a:solidFill>
                  <a:srgbClr val="152033"/>
                </a:solidFill>
                <a:latin typeface="Helvetica Neue"/>
                <a:ea typeface="Helvetica Neue"/>
                <a:cs typeface="Helvetica Neue"/>
              </a:rPr>
              <a:t>The POC is ready to test as a governed review aid—not to deploy as an autonomous decision-maker.</a:t>
            </a:r>
          </a:p>
        </p:txBody>
      </p:sp>
      <p:sp>
        <p:nvSpPr>
          <p:cNvPr id="3" name="boundary-card">
            <a:extLst xmlns:a="http://schemas.openxmlformats.org/drawingml/2006/main">
              <a:ext uri="{FF2B5EF4-FFF2-40B4-BE49-F238E27FC236}">
                <a16:creationId xmlns:a16="http://schemas.microsoft.com/office/drawing/2014/main" id="{B0EB78CC-0756-4DCC-860D-2E3113C1ECDE}"/>
              </a:ext>
            </a:extLst>
          </p:cNvPr>
          <p:cNvSpPr>
            <a:spLocks xmlns:a="http://schemas.openxmlformats.org/drawingml/2006/main" noGrp="1"/>
          </p:cNvSpPr>
          <p:nvPr/>
        </p:nvSpPr>
        <p:spPr>
          <a:xfrm xmlns:a="http://schemas.openxmlformats.org/drawingml/2006/main">
            <a:off x="400050" y="3381375"/>
            <a:ext cx="5572125" cy="1857375"/>
          </a:xfrm>
          <a:prstGeom xmlns:a="http://schemas.openxmlformats.org/drawingml/2006/main" prst="roundRect">
            <a:avLst>
              <a:gd name="adj" fmla="val 4103"/>
            </a:avLst>
          </a:prstGeom>
          <a:solidFill xmlns:a="http://schemas.openxmlformats.org/drawingml/2006/main">
            <a:srgbClr val="FBE4E4"/>
          </a:solidFill>
          <a:ln xmlns:a="http://schemas.openxmlformats.org/drawingml/2006/main" w="9525">
            <a:solidFill>
              <a:srgbClr val="EBC2C2"/>
            </a:solidFill>
            <a:prstDash val="solid"/>
          </a:ln>
        </p:spPr>
      </p:sp>
      <p:sp>
        <p:nvSpPr>
          <p:cNvPr id="4" name="boundaries">
            <a:extLst xmlns:a="http://schemas.openxmlformats.org/drawingml/2006/main">
              <a:ext uri="{FF2B5EF4-FFF2-40B4-BE49-F238E27FC236}">
                <a16:creationId xmlns:a16="http://schemas.microsoft.com/office/drawing/2014/main" id="{E165EAD3-9B9A-4F3F-8F8B-44313A1BE37B}"/>
              </a:ext>
            </a:extLst>
          </p:cNvPr>
          <p:cNvSpPr>
            <a:spLocks xmlns:a="http://schemas.openxmlformats.org/drawingml/2006/main" noGrp="1"/>
          </p:cNvSpPr>
          <p:nvPr/>
        </p:nvSpPr>
        <p:spPr>
          <a:xfrm xmlns:a="http://schemas.openxmlformats.org/drawingml/2006/main">
            <a:off x="723900" y="3695700"/>
            <a:ext cx="4905375" cy="119062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08000"/>
              </a:lnSpc>
              <a:spcAft>
                <a:spcPts val="500"/>
              </a:spcAft>
              <a:buNone/>
              <a:defRPr sz="1650">
                <a:solidFill>
                  <a:srgbClr val="152033"/>
                </a:solidFill>
                <a:latin typeface="Helvetica Neue"/>
                <a:ea typeface="Helvetica Neue"/>
                <a:cs typeface="Helvetica Neue"/>
              </a:defRPr>
            </a:pPr>
            <a:r>
              <a:rPr sz="1200" b="1">
                <a:solidFill>
                  <a:srgbClr val="A13A3A"/>
                </a:solidFill>
                <a:latin typeface="Helvetica Neue"/>
                <a:ea typeface="Helvetica Neue"/>
                <a:cs typeface="Helvetica Neue"/>
              </a:rPr>
              <a:t>BOUNDARIES</a:t>
            </a:r>
          </a:p>
          <a:p xmlns:a="http://schemas.openxmlformats.org/drawingml/2006/main">
            <a:pPr>
              <a:lnSpc>
                <a:spcPct val="113000"/>
              </a:lnSpc>
              <a:spcAft>
                <a:spcPts val="0"/>
              </a:spcAft>
              <a:buNone/>
              <a:defRPr sz="1650">
                <a:solidFill>
                  <a:srgbClr val="152033"/>
                </a:solidFill>
                <a:latin typeface="Helvetica Neue"/>
                <a:ea typeface="Helvetica Neue"/>
                <a:cs typeface="Helvetica Neue"/>
              </a:defRPr>
            </a:pPr>
            <a:r>
              <a:rPr sz="1650" b="1">
                <a:solidFill>
                  <a:srgbClr val="152033"/>
                </a:solidFill>
                <a:latin typeface="Helvetica Neue"/>
                <a:ea typeface="Helvetica Neue"/>
                <a:cs typeface="Helvetica Neue"/>
              </a:rPr>
              <a:t>No PHI · no clinical advice · no payment decision · no production deployment · no savings claim</a:t>
            </a:r>
          </a:p>
        </p:txBody>
      </p:sp>
      <p:sp>
        <p:nvSpPr>
          <p:cNvPr id="5" name="check-1">
            <a:extLst xmlns:a="http://schemas.openxmlformats.org/drawingml/2006/main">
              <a:ext uri="{FF2B5EF4-FFF2-40B4-BE49-F238E27FC236}">
                <a16:creationId xmlns:a16="http://schemas.microsoft.com/office/drawing/2014/main" id="{E552D676-D3A9-41EA-A1F3-F55FC23ED266}"/>
              </a:ext>
            </a:extLst>
          </p:cNvPr>
          <p:cNvSpPr>
            <a:spLocks xmlns:a="http://schemas.openxmlformats.org/drawingml/2006/main" noGrp="1"/>
          </p:cNvSpPr>
          <p:nvPr/>
        </p:nvSpPr>
        <p:spPr>
          <a:xfrm xmlns:a="http://schemas.openxmlformats.org/drawingml/2006/main">
            <a:off x="6705600" y="1562100"/>
            <a:ext cx="257175" cy="257175"/>
          </a:xfrm>
          <a:prstGeom xmlns:a="http://schemas.openxmlformats.org/drawingml/2006/main" prst="ellipse">
            <a:avLst/>
          </a:prstGeom>
          <a:solidFill xmlns:a="http://schemas.openxmlformats.org/drawingml/2006/main">
            <a:srgbClr val="DFF3ED"/>
          </a:solidFill>
          <a:ln xmlns:a="http://schemas.openxmlformats.org/drawingml/2006/main" w="9525">
            <a:solidFill>
              <a:srgbClr val="167D67"/>
            </a:solidFill>
            <a:prstDash val="solid"/>
          </a:ln>
        </p:spPr>
      </p:sp>
      <p:sp>
        <p:nvSpPr>
          <p:cNvPr id="6" name="checkmark-1">
            <a:extLst xmlns:a="http://schemas.openxmlformats.org/drawingml/2006/main">
              <a:ext uri="{FF2B5EF4-FFF2-40B4-BE49-F238E27FC236}">
                <a16:creationId xmlns:a16="http://schemas.microsoft.com/office/drawing/2014/main" id="{FAB10BE2-CB2E-4843-8DE9-43D6F31BF883}"/>
              </a:ext>
            </a:extLst>
          </p:cNvPr>
          <p:cNvSpPr>
            <a:spLocks xmlns:a="http://schemas.openxmlformats.org/drawingml/2006/main" noGrp="1"/>
          </p:cNvSpPr>
          <p:nvPr/>
        </p:nvSpPr>
        <p:spPr>
          <a:xfrm xmlns:a="http://schemas.openxmlformats.org/drawingml/2006/main">
            <a:off x="6734175" y="1571625"/>
            <a:ext cx="20955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ct val="108000"/>
              </a:lnSpc>
              <a:spcAft>
                <a:spcPts val="0"/>
              </a:spcAft>
              <a:buNone/>
              <a:defRPr sz="1275">
                <a:solidFill>
                  <a:srgbClr val="167D67"/>
                </a:solidFill>
                <a:latin typeface="Helvetica Neue"/>
                <a:ea typeface="Helvetica Neue"/>
                <a:cs typeface="Helvetica Neue"/>
              </a:defRPr>
            </a:pPr>
            <a:r>
              <a:rPr sz="1275" b="1">
                <a:solidFill>
                  <a:srgbClr val="167D67"/>
                </a:solidFill>
                <a:latin typeface="Helvetica Neue"/>
                <a:ea typeface="Helvetica Neue"/>
                <a:cs typeface="Helvetica Neue"/>
              </a:rPr>
              <a:t>✓</a:t>
            </a:r>
          </a:p>
        </p:txBody>
      </p:sp>
      <p:sp>
        <p:nvSpPr>
          <p:cNvPr id="7" name="check-text-1">
            <a:extLst xmlns:a="http://schemas.openxmlformats.org/drawingml/2006/main">
              <a:ext uri="{FF2B5EF4-FFF2-40B4-BE49-F238E27FC236}">
                <a16:creationId xmlns:a16="http://schemas.microsoft.com/office/drawing/2014/main" id="{DC01BB6B-026C-4987-AB43-9BB1142D0E86}"/>
              </a:ext>
            </a:extLst>
          </p:cNvPr>
          <p:cNvSpPr>
            <a:spLocks xmlns:a="http://schemas.openxmlformats.org/drawingml/2006/main" noGrp="1"/>
          </p:cNvSpPr>
          <p:nvPr/>
        </p:nvSpPr>
        <p:spPr>
          <a:xfrm xmlns:a="http://schemas.openxmlformats.org/drawingml/2006/main">
            <a:off x="7162800" y="1524000"/>
            <a:ext cx="4286250"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10000"/>
              </a:lnSpc>
              <a:spcAft>
                <a:spcPts val="0"/>
              </a:spcAft>
              <a:buNone/>
              <a:defRPr sz="1575">
                <a:solidFill>
                  <a:srgbClr val="152033"/>
                </a:solidFill>
                <a:latin typeface="Helvetica Neue"/>
                <a:ea typeface="Helvetica Neue"/>
                <a:cs typeface="Helvetica Neue"/>
              </a:defRPr>
            </a:pPr>
            <a:r>
              <a:rPr sz="1575" b="0">
                <a:solidFill>
                  <a:srgbClr val="152033"/>
                </a:solidFill>
                <a:latin typeface="Helvetica Neue"/>
                <a:ea typeface="Helvetica Neue"/>
                <a:cs typeface="Helvetica Neue"/>
              </a:rPr>
              <a:t>Freeze 10–20 approved policy pairs and gold criteria before model runs</a:t>
            </a:r>
          </a:p>
        </p:txBody>
      </p:sp>
      <p:sp>
        <p:nvSpPr>
          <p:cNvPr id="8" name="check-2">
            <a:extLst xmlns:a="http://schemas.openxmlformats.org/drawingml/2006/main">
              <a:ext uri="{FF2B5EF4-FFF2-40B4-BE49-F238E27FC236}">
                <a16:creationId xmlns:a16="http://schemas.microsoft.com/office/drawing/2014/main" id="{EC7EF2DB-F749-4710-9F3C-D549BB2189B8}"/>
              </a:ext>
            </a:extLst>
          </p:cNvPr>
          <p:cNvSpPr>
            <a:spLocks xmlns:a="http://schemas.openxmlformats.org/drawingml/2006/main" noGrp="1"/>
          </p:cNvSpPr>
          <p:nvPr/>
        </p:nvSpPr>
        <p:spPr>
          <a:xfrm xmlns:a="http://schemas.openxmlformats.org/drawingml/2006/main">
            <a:off x="6705600" y="2562225"/>
            <a:ext cx="257175" cy="257175"/>
          </a:xfrm>
          <a:prstGeom xmlns:a="http://schemas.openxmlformats.org/drawingml/2006/main" prst="ellipse">
            <a:avLst/>
          </a:prstGeom>
          <a:solidFill xmlns:a="http://schemas.openxmlformats.org/drawingml/2006/main">
            <a:srgbClr val="DFF3ED"/>
          </a:solidFill>
          <a:ln xmlns:a="http://schemas.openxmlformats.org/drawingml/2006/main" w="9525">
            <a:solidFill>
              <a:srgbClr val="167D67"/>
            </a:solidFill>
            <a:prstDash val="solid"/>
          </a:ln>
        </p:spPr>
      </p:sp>
      <p:sp>
        <p:nvSpPr>
          <p:cNvPr id="9" name="checkmark-2">
            <a:extLst xmlns:a="http://schemas.openxmlformats.org/drawingml/2006/main">
              <a:ext uri="{FF2B5EF4-FFF2-40B4-BE49-F238E27FC236}">
                <a16:creationId xmlns:a16="http://schemas.microsoft.com/office/drawing/2014/main" id="{39455F62-836D-40D5-9291-082D04D8946C}"/>
              </a:ext>
            </a:extLst>
          </p:cNvPr>
          <p:cNvSpPr>
            <a:spLocks xmlns:a="http://schemas.openxmlformats.org/drawingml/2006/main" noGrp="1"/>
          </p:cNvSpPr>
          <p:nvPr/>
        </p:nvSpPr>
        <p:spPr>
          <a:xfrm xmlns:a="http://schemas.openxmlformats.org/drawingml/2006/main">
            <a:off x="6734175" y="2571750"/>
            <a:ext cx="20955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ct val="108000"/>
              </a:lnSpc>
              <a:spcAft>
                <a:spcPts val="0"/>
              </a:spcAft>
              <a:buNone/>
              <a:defRPr sz="1275">
                <a:solidFill>
                  <a:srgbClr val="167D67"/>
                </a:solidFill>
                <a:latin typeface="Helvetica Neue"/>
                <a:ea typeface="Helvetica Neue"/>
                <a:cs typeface="Helvetica Neue"/>
              </a:defRPr>
            </a:pPr>
            <a:r>
              <a:rPr sz="1275" b="1">
                <a:solidFill>
                  <a:srgbClr val="167D67"/>
                </a:solidFill>
                <a:latin typeface="Helvetica Neue"/>
                <a:ea typeface="Helvetica Neue"/>
                <a:cs typeface="Helvetica Neue"/>
              </a:rPr>
              <a:t>✓</a:t>
            </a:r>
          </a:p>
        </p:txBody>
      </p:sp>
      <p:sp>
        <p:nvSpPr>
          <p:cNvPr id="10" name="check-text-2">
            <a:extLst xmlns:a="http://schemas.openxmlformats.org/drawingml/2006/main">
              <a:ext uri="{FF2B5EF4-FFF2-40B4-BE49-F238E27FC236}">
                <a16:creationId xmlns:a16="http://schemas.microsoft.com/office/drawing/2014/main" id="{A11ABE2C-41E5-49E2-88C7-17DE93769120}"/>
              </a:ext>
            </a:extLst>
          </p:cNvPr>
          <p:cNvSpPr>
            <a:spLocks xmlns:a="http://schemas.openxmlformats.org/drawingml/2006/main" noGrp="1"/>
          </p:cNvSpPr>
          <p:nvPr/>
        </p:nvSpPr>
        <p:spPr>
          <a:xfrm xmlns:a="http://schemas.openxmlformats.org/drawingml/2006/main">
            <a:off x="7162800" y="2524125"/>
            <a:ext cx="4286250"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10000"/>
              </a:lnSpc>
              <a:spcAft>
                <a:spcPts val="0"/>
              </a:spcAft>
              <a:buNone/>
              <a:defRPr sz="1575">
                <a:solidFill>
                  <a:srgbClr val="152033"/>
                </a:solidFill>
                <a:latin typeface="Helvetica Neue"/>
                <a:ea typeface="Helvetica Neue"/>
                <a:cs typeface="Helvetica Neue"/>
              </a:defRPr>
            </a:pPr>
            <a:r>
              <a:rPr sz="1575" b="0">
                <a:solidFill>
                  <a:srgbClr val="152033"/>
                </a:solidFill>
                <a:latin typeface="Helvetica Neue"/>
                <a:ea typeface="Helvetica Neue"/>
                <a:cs typeface="Helvetica Neue"/>
              </a:rPr>
              <a:t>Use independent domain experts to author and adjudicate ground truth</a:t>
            </a:r>
          </a:p>
        </p:txBody>
      </p:sp>
      <p:sp>
        <p:nvSpPr>
          <p:cNvPr id="11" name="check-3">
            <a:extLst xmlns:a="http://schemas.openxmlformats.org/drawingml/2006/main">
              <a:ext uri="{FF2B5EF4-FFF2-40B4-BE49-F238E27FC236}">
                <a16:creationId xmlns:a16="http://schemas.microsoft.com/office/drawing/2014/main" id="{67539ECE-1D7A-4773-AE7A-214D477F8C4B}"/>
              </a:ext>
            </a:extLst>
          </p:cNvPr>
          <p:cNvSpPr>
            <a:spLocks xmlns:a="http://schemas.openxmlformats.org/drawingml/2006/main" noGrp="1"/>
          </p:cNvSpPr>
          <p:nvPr/>
        </p:nvSpPr>
        <p:spPr>
          <a:xfrm xmlns:a="http://schemas.openxmlformats.org/drawingml/2006/main">
            <a:off x="6705600" y="3562350"/>
            <a:ext cx="257175" cy="257175"/>
          </a:xfrm>
          <a:prstGeom xmlns:a="http://schemas.openxmlformats.org/drawingml/2006/main" prst="ellipse">
            <a:avLst/>
          </a:prstGeom>
          <a:solidFill xmlns:a="http://schemas.openxmlformats.org/drawingml/2006/main">
            <a:srgbClr val="DFF3ED"/>
          </a:solidFill>
          <a:ln xmlns:a="http://schemas.openxmlformats.org/drawingml/2006/main" w="9525">
            <a:solidFill>
              <a:srgbClr val="167D67"/>
            </a:solidFill>
            <a:prstDash val="solid"/>
          </a:ln>
        </p:spPr>
      </p:sp>
      <p:sp>
        <p:nvSpPr>
          <p:cNvPr id="12" name="checkmark-3">
            <a:extLst xmlns:a="http://schemas.openxmlformats.org/drawingml/2006/main">
              <a:ext uri="{FF2B5EF4-FFF2-40B4-BE49-F238E27FC236}">
                <a16:creationId xmlns:a16="http://schemas.microsoft.com/office/drawing/2014/main" id="{B25C963C-86C5-4A99-B557-11D60254ED87}"/>
              </a:ext>
            </a:extLst>
          </p:cNvPr>
          <p:cNvSpPr>
            <a:spLocks xmlns:a="http://schemas.openxmlformats.org/drawingml/2006/main" noGrp="1"/>
          </p:cNvSpPr>
          <p:nvPr/>
        </p:nvSpPr>
        <p:spPr>
          <a:xfrm xmlns:a="http://schemas.openxmlformats.org/drawingml/2006/main">
            <a:off x="6734175" y="3571875"/>
            <a:ext cx="20955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ct val="108000"/>
              </a:lnSpc>
              <a:spcAft>
                <a:spcPts val="0"/>
              </a:spcAft>
              <a:buNone/>
              <a:defRPr sz="1275">
                <a:solidFill>
                  <a:srgbClr val="167D67"/>
                </a:solidFill>
                <a:latin typeface="Helvetica Neue"/>
                <a:ea typeface="Helvetica Neue"/>
                <a:cs typeface="Helvetica Neue"/>
              </a:defRPr>
            </a:pPr>
            <a:r>
              <a:rPr sz="1275" b="1">
                <a:solidFill>
                  <a:srgbClr val="167D67"/>
                </a:solidFill>
                <a:latin typeface="Helvetica Neue"/>
                <a:ea typeface="Helvetica Neue"/>
                <a:cs typeface="Helvetica Neue"/>
              </a:rPr>
              <a:t>✓</a:t>
            </a:r>
          </a:p>
        </p:txBody>
      </p:sp>
      <p:sp>
        <p:nvSpPr>
          <p:cNvPr id="13" name="check-text-3">
            <a:extLst xmlns:a="http://schemas.openxmlformats.org/drawingml/2006/main">
              <a:ext uri="{FF2B5EF4-FFF2-40B4-BE49-F238E27FC236}">
                <a16:creationId xmlns:a16="http://schemas.microsoft.com/office/drawing/2014/main" id="{CB92BF9B-5F6F-4BFC-AE5B-79CE1EC6D36D}"/>
              </a:ext>
            </a:extLst>
          </p:cNvPr>
          <p:cNvSpPr>
            <a:spLocks xmlns:a="http://schemas.openxmlformats.org/drawingml/2006/main" noGrp="1"/>
          </p:cNvSpPr>
          <p:nvPr/>
        </p:nvSpPr>
        <p:spPr>
          <a:xfrm xmlns:a="http://schemas.openxmlformats.org/drawingml/2006/main">
            <a:off x="7162800" y="3524250"/>
            <a:ext cx="4286250"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10000"/>
              </a:lnSpc>
              <a:spcAft>
                <a:spcPts val="0"/>
              </a:spcAft>
              <a:buNone/>
              <a:defRPr sz="1575">
                <a:solidFill>
                  <a:srgbClr val="152033"/>
                </a:solidFill>
                <a:latin typeface="Helvetica Neue"/>
                <a:ea typeface="Helvetica Neue"/>
                <a:cs typeface="Helvetica Neue"/>
              </a:defRPr>
            </a:pPr>
            <a:r>
              <a:rPr sz="1575" b="0">
                <a:solidFill>
                  <a:srgbClr val="152033"/>
                </a:solidFill>
                <a:latin typeface="Helvetica Neue"/>
                <a:ea typeface="Helvetica Neue"/>
                <a:cs typeface="Helvetica Neue"/>
              </a:rPr>
              <a:t>Run in a controlled environment; measure accuracy, abstention, traceability, and overrides</a:t>
            </a:r>
          </a:p>
        </p:txBody>
      </p:sp>
      <p:sp>
        <p:nvSpPr>
          <p:cNvPr id="14" name="check-4">
            <a:extLst xmlns:a="http://schemas.openxmlformats.org/drawingml/2006/main">
              <a:ext uri="{FF2B5EF4-FFF2-40B4-BE49-F238E27FC236}">
                <a16:creationId xmlns:a16="http://schemas.microsoft.com/office/drawing/2014/main" id="{8BAE8213-F90C-4AC1-907F-0BFCE17889BF}"/>
              </a:ext>
            </a:extLst>
          </p:cNvPr>
          <p:cNvSpPr>
            <a:spLocks xmlns:a="http://schemas.openxmlformats.org/drawingml/2006/main" noGrp="1"/>
          </p:cNvSpPr>
          <p:nvPr/>
        </p:nvSpPr>
        <p:spPr>
          <a:xfrm xmlns:a="http://schemas.openxmlformats.org/drawingml/2006/main">
            <a:off x="6705600" y="4562475"/>
            <a:ext cx="257175" cy="257175"/>
          </a:xfrm>
          <a:prstGeom xmlns:a="http://schemas.openxmlformats.org/drawingml/2006/main" prst="ellipse">
            <a:avLst/>
          </a:prstGeom>
          <a:solidFill xmlns:a="http://schemas.openxmlformats.org/drawingml/2006/main">
            <a:srgbClr val="DFF3ED"/>
          </a:solidFill>
          <a:ln xmlns:a="http://schemas.openxmlformats.org/drawingml/2006/main" w="9525">
            <a:solidFill>
              <a:srgbClr val="167D67"/>
            </a:solidFill>
            <a:prstDash val="solid"/>
          </a:ln>
        </p:spPr>
      </p:sp>
      <p:sp>
        <p:nvSpPr>
          <p:cNvPr id="15" name="checkmark-4">
            <a:extLst xmlns:a="http://schemas.openxmlformats.org/drawingml/2006/main">
              <a:ext uri="{FF2B5EF4-FFF2-40B4-BE49-F238E27FC236}">
                <a16:creationId xmlns:a16="http://schemas.microsoft.com/office/drawing/2014/main" id="{30536B19-9DC6-45FE-9B6C-C96A51643893}"/>
              </a:ext>
            </a:extLst>
          </p:cNvPr>
          <p:cNvSpPr>
            <a:spLocks xmlns:a="http://schemas.openxmlformats.org/drawingml/2006/main" noGrp="1"/>
          </p:cNvSpPr>
          <p:nvPr/>
        </p:nvSpPr>
        <p:spPr>
          <a:xfrm xmlns:a="http://schemas.openxmlformats.org/drawingml/2006/main">
            <a:off x="6734175" y="4572000"/>
            <a:ext cx="20955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ct val="108000"/>
              </a:lnSpc>
              <a:spcAft>
                <a:spcPts val="0"/>
              </a:spcAft>
              <a:buNone/>
              <a:defRPr sz="1275">
                <a:solidFill>
                  <a:srgbClr val="167D67"/>
                </a:solidFill>
                <a:latin typeface="Helvetica Neue"/>
                <a:ea typeface="Helvetica Neue"/>
                <a:cs typeface="Helvetica Neue"/>
              </a:defRPr>
            </a:pPr>
            <a:r>
              <a:rPr sz="1275" b="1">
                <a:solidFill>
                  <a:srgbClr val="167D67"/>
                </a:solidFill>
                <a:latin typeface="Helvetica Neue"/>
                <a:ea typeface="Helvetica Neue"/>
                <a:cs typeface="Helvetica Neue"/>
              </a:rPr>
              <a:t>✓</a:t>
            </a:r>
          </a:p>
        </p:txBody>
      </p:sp>
      <p:sp>
        <p:nvSpPr>
          <p:cNvPr id="16" name="check-text-4">
            <a:extLst xmlns:a="http://schemas.openxmlformats.org/drawingml/2006/main">
              <a:ext uri="{FF2B5EF4-FFF2-40B4-BE49-F238E27FC236}">
                <a16:creationId xmlns:a16="http://schemas.microsoft.com/office/drawing/2014/main" id="{AA294068-FBA8-4B7A-8AF9-3C4C1D87C9AA}"/>
              </a:ext>
            </a:extLst>
          </p:cNvPr>
          <p:cNvSpPr>
            <a:spLocks xmlns:a="http://schemas.openxmlformats.org/drawingml/2006/main" noGrp="1"/>
          </p:cNvSpPr>
          <p:nvPr/>
        </p:nvSpPr>
        <p:spPr>
          <a:xfrm xmlns:a="http://schemas.openxmlformats.org/drawingml/2006/main">
            <a:off x="7162800" y="4524375"/>
            <a:ext cx="4286250"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nSpc>
                <a:spcPct val="110000"/>
              </a:lnSpc>
              <a:spcAft>
                <a:spcPts val="0"/>
              </a:spcAft>
              <a:buNone/>
              <a:defRPr sz="1575">
                <a:solidFill>
                  <a:srgbClr val="152033"/>
                </a:solidFill>
                <a:latin typeface="Helvetica Neue"/>
                <a:ea typeface="Helvetica Neue"/>
                <a:cs typeface="Helvetica Neue"/>
              </a:defRPr>
            </a:pPr>
            <a:r>
              <a:rPr sz="1575" b="0">
                <a:solidFill>
                  <a:srgbClr val="152033"/>
                </a:solidFill>
                <a:latin typeface="Helvetica Neue"/>
                <a:ea typeface="Helvetica Neue"/>
                <a:cs typeface="Helvetica Neue"/>
              </a:rPr>
              <a:t>Stop or roll back when evidence, safety, or approval gates fail</a:t>
            </a:r>
          </a:p>
        </p:txBody>
      </p:sp>
      <p:sp>
        <p:nvSpPr>
          <p:cNvPr id="17" name="slide-number-6">
            <a:extLst xmlns:a="http://schemas.openxmlformats.org/drawingml/2006/main">
              <a:ext uri="{FF2B5EF4-FFF2-40B4-BE49-F238E27FC236}">
                <a16:creationId xmlns:a16="http://schemas.microsoft.com/office/drawing/2014/main" id="{38928086-950B-40D6-9FE5-0B70918D0483}"/>
              </a:ext>
            </a:extLst>
          </p:cNvPr>
          <p:cNvSpPr>
            <a:spLocks xmlns:a="http://schemas.openxmlformats.org/drawingml/2006/main" noGrp="1"/>
          </p:cNvSpPr>
          <p:nvPr/>
        </p:nvSpPr>
        <p:spPr>
          <a:xfrm xmlns:a="http://schemas.openxmlformats.org/drawingml/2006/main">
            <a:off x="11258550" y="6267450"/>
            <a:ext cx="533400" cy="247650"/>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975">
                <a:solidFill>
                  <a:srgbClr val="5B687A"/>
                </a:solidFill>
                <a:latin typeface="Helvetica Neue"/>
                <a:ea typeface="Helvetica Neue"/>
                <a:cs typeface="Helvetica Neue"/>
              </a:defRPr>
            </a:pPr>
            <a:r>
              <a:t>6</a:t>
            </a:r>
          </a:p>
        </p:txBody>
      </p:sp>
    </p:spTree>
    <p:extLst>
      <p:ext uri="{BB962C8B-B14F-4D97-AF65-F5344CB8AC3E}">
        <p14:creationId xmlns:p14="http://schemas.microsoft.com/office/powerpoint/2010/main" val="1291249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2026-08-08T23:11:27.6290000Z</dcterms:created>
  <dcterms:modified xsi:type="dcterms:W3CDTF">2026-08-08T23:11:27.6290000Z</dcterms:modified>
</coreProperties>
</file>